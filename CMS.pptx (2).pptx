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imes New Roman Bold" charset="1" panose="02020803070505020304"/>
      <p:regular r:id="rId22"/>
    </p:embeddedFont>
    <p:embeddedFont>
      <p:font typeface="Times New Roman" charset="1" panose="02020603050405020304"/>
      <p:regular r:id="rId23"/>
    </p:embeddedFont>
    <p:embeddedFont>
      <p:font typeface="Aptos Bold" charset="1" panose="020B0004020202020204"/>
      <p:regular r:id="rId27"/>
    </p:embeddedFont>
    <p:embeddedFont>
      <p:font typeface="Times New Roman Bold Italics" charset="1" panose="02020703060505090304"/>
      <p:regular r:id="rId30"/>
    </p:embeddedFont>
    <p:embeddedFont>
      <p:font typeface="Aptos Bold Italics" charset="1" panose="020B000402020209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4805793" y="-1734903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31652"/>
            <a:ext cx="18320909" cy="10314108"/>
            <a:chOff x="0" y="0"/>
            <a:chExt cx="24427878" cy="137521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5F7FA"/>
            </a:solidFill>
            <a:ln w="19065" cap="sq">
              <a:solidFill>
                <a:srgbClr val="F5F7F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-9535" y="-9535"/>
            <a:ext cx="362236" cy="10314108"/>
            <a:chOff x="0" y="0"/>
            <a:chExt cx="482981" cy="137521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2981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82981">
                  <a:moveTo>
                    <a:pt x="0" y="0"/>
                  </a:moveTo>
                  <a:lnTo>
                    <a:pt x="482981" y="0"/>
                  </a:lnTo>
                  <a:lnTo>
                    <a:pt x="482981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275887" y="-1725378"/>
            <a:ext cx="7568765" cy="7568765"/>
            <a:chOff x="0" y="0"/>
            <a:chExt cx="10091687" cy="100916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91674" cy="10091674"/>
            </a:xfrm>
            <a:custGeom>
              <a:avLst/>
              <a:gdLst/>
              <a:ahLst/>
              <a:cxnLst/>
              <a:rect r="r" b="b" t="t" l="l"/>
              <a:pathLst>
                <a:path h="10091674" w="10091674">
                  <a:moveTo>
                    <a:pt x="0" y="5045837"/>
                  </a:moveTo>
                  <a:cubicBezTo>
                    <a:pt x="0" y="2259076"/>
                    <a:pt x="2259076" y="0"/>
                    <a:pt x="5045837" y="0"/>
                  </a:cubicBezTo>
                  <a:cubicBezTo>
                    <a:pt x="7832598" y="0"/>
                    <a:pt x="10091674" y="2259076"/>
                    <a:pt x="10091674" y="5045837"/>
                  </a:cubicBezTo>
                  <a:cubicBezTo>
                    <a:pt x="10091674" y="7832598"/>
                    <a:pt x="7832598" y="10091674"/>
                    <a:pt x="5045837" y="10091674"/>
                  </a:cubicBezTo>
                  <a:cubicBezTo>
                    <a:pt x="2259076" y="10091674"/>
                    <a:pt x="0" y="7832598"/>
                    <a:pt x="0" y="5045837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472161" y="5412524"/>
            <a:ext cx="4411618" cy="4411618"/>
            <a:chOff x="0" y="0"/>
            <a:chExt cx="5882157" cy="58821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82132" cy="5882132"/>
            </a:xfrm>
            <a:custGeom>
              <a:avLst/>
              <a:gdLst/>
              <a:ahLst/>
              <a:cxnLst/>
              <a:rect r="r" b="b" t="t" l="l"/>
              <a:pathLst>
                <a:path h="5882132" w="5882132">
                  <a:moveTo>
                    <a:pt x="0" y="2941066"/>
                  </a:moveTo>
                  <a:cubicBezTo>
                    <a:pt x="0" y="1316736"/>
                    <a:pt x="1316736" y="0"/>
                    <a:pt x="2941066" y="0"/>
                  </a:cubicBezTo>
                  <a:cubicBezTo>
                    <a:pt x="4565396" y="0"/>
                    <a:pt x="5882132" y="1316736"/>
                    <a:pt x="5882132" y="2941066"/>
                  </a:cubicBezTo>
                  <a:cubicBezTo>
                    <a:pt x="5882132" y="4565396"/>
                    <a:pt x="4565396" y="5882132"/>
                    <a:pt x="2941066" y="5882132"/>
                  </a:cubicBezTo>
                  <a:cubicBezTo>
                    <a:pt x="1316736" y="5882132"/>
                    <a:pt x="0" y="4565396"/>
                    <a:pt x="0" y="2941066"/>
                  </a:cubicBezTo>
                  <a:close/>
                </a:path>
              </a:pathLst>
            </a:custGeom>
            <a:solidFill>
              <a:srgbClr val="EAF4FF"/>
            </a:solidFill>
            <a:ln w="19065" cap="sq">
              <a:solidFill>
                <a:srgbClr val="EAF4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41524" y="2488730"/>
            <a:ext cx="5441118" cy="458324"/>
            <a:chOff x="0" y="0"/>
            <a:chExt cx="7254824" cy="6110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54748" cy="611124"/>
            </a:xfrm>
            <a:custGeom>
              <a:avLst/>
              <a:gdLst/>
              <a:ahLst/>
              <a:cxnLst/>
              <a:rect r="r" b="b" t="t" l="l"/>
              <a:pathLst>
                <a:path h="611124" w="7254748">
                  <a:moveTo>
                    <a:pt x="0" y="114554"/>
                  </a:moveTo>
                  <a:cubicBezTo>
                    <a:pt x="0" y="51308"/>
                    <a:pt x="51308" y="0"/>
                    <a:pt x="114554" y="0"/>
                  </a:cubicBezTo>
                  <a:lnTo>
                    <a:pt x="7140194" y="0"/>
                  </a:lnTo>
                  <a:cubicBezTo>
                    <a:pt x="7203440" y="0"/>
                    <a:pt x="7254748" y="51308"/>
                    <a:pt x="7254748" y="114554"/>
                  </a:cubicBezTo>
                  <a:lnTo>
                    <a:pt x="7254748" y="496570"/>
                  </a:lnTo>
                  <a:cubicBezTo>
                    <a:pt x="7254748" y="559816"/>
                    <a:pt x="7203440" y="611124"/>
                    <a:pt x="7140194" y="611124"/>
                  </a:cubicBezTo>
                  <a:lnTo>
                    <a:pt x="114554" y="611124"/>
                  </a:lnTo>
                  <a:cubicBezTo>
                    <a:pt x="51308" y="611124"/>
                    <a:pt x="0" y="559816"/>
                    <a:pt x="0" y="496570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60872" y="2594353"/>
            <a:ext cx="5202431" cy="239436"/>
            <a:chOff x="0" y="0"/>
            <a:chExt cx="6936575" cy="3192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36571" cy="319249"/>
            </a:xfrm>
            <a:custGeom>
              <a:avLst/>
              <a:gdLst/>
              <a:ahLst/>
              <a:cxnLst/>
              <a:rect r="r" b="b" t="t" l="l"/>
              <a:pathLst>
                <a:path h="319249" w="6936571">
                  <a:moveTo>
                    <a:pt x="0" y="0"/>
                  </a:moveTo>
                  <a:lnTo>
                    <a:pt x="6936571" y="0"/>
                  </a:lnTo>
                  <a:lnTo>
                    <a:pt x="6936571" y="319249"/>
                  </a:lnTo>
                  <a:lnTo>
                    <a:pt x="0" y="3192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636" r="0" b="-37209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936575" cy="338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sz="1200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DATABASE-BACKED CLINIC MANAGEMENT APPLICATION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1059" y="3088510"/>
            <a:ext cx="8236039" cy="2121104"/>
            <a:chOff x="0" y="0"/>
            <a:chExt cx="10981385" cy="28281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81379" cy="2828138"/>
            </a:xfrm>
            <a:custGeom>
              <a:avLst/>
              <a:gdLst/>
              <a:ahLst/>
              <a:cxnLst/>
              <a:rect r="r" b="b" t="t" l="l"/>
              <a:pathLst>
                <a:path h="2828138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2828138"/>
                  </a:lnTo>
                  <a:lnTo>
                    <a:pt x="0" y="282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75" r="0" b="-1934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981385" cy="28662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5"/>
                </a:lnSpc>
              </a:pPr>
              <a:r>
                <a:rPr lang="en-US" sz="6004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Clinic Management</a:t>
              </a:r>
            </a:p>
            <a:p>
              <a:pPr algn="l">
                <a:lnSpc>
                  <a:spcPts val="7205"/>
                </a:lnSpc>
              </a:pPr>
              <a:r>
                <a:rPr lang="en-US" sz="6004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5961" y="5188706"/>
            <a:ext cx="6039755" cy="452514"/>
            <a:chOff x="0" y="0"/>
            <a:chExt cx="8053006" cy="6033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53012" cy="603345"/>
            </a:xfrm>
            <a:custGeom>
              <a:avLst/>
              <a:gdLst/>
              <a:ahLst/>
              <a:cxnLst/>
              <a:rect r="r" b="b" t="t" l="l"/>
              <a:pathLst>
                <a:path h="603345" w="8053012">
                  <a:moveTo>
                    <a:pt x="0" y="0"/>
                  </a:moveTo>
                  <a:lnTo>
                    <a:pt x="8053012" y="0"/>
                  </a:lnTo>
                  <a:lnTo>
                    <a:pt x="8053012" y="603345"/>
                  </a:lnTo>
                  <a:lnTo>
                    <a:pt x="0" y="6033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603" r="0" b="-20254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053006" cy="622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Fundamentals of Databases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6436" y="5838053"/>
            <a:ext cx="3862549" cy="19069"/>
            <a:chOff x="0" y="0"/>
            <a:chExt cx="5150066" cy="254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50104" cy="25400"/>
            </a:xfrm>
            <a:custGeom>
              <a:avLst/>
              <a:gdLst/>
              <a:ahLst/>
              <a:cxnLst/>
              <a:rect r="r" b="b" t="t" l="l"/>
              <a:pathLst>
                <a:path h="25400" w="5150104">
                  <a:moveTo>
                    <a:pt x="0" y="0"/>
                  </a:moveTo>
                  <a:lnTo>
                    <a:pt x="5150104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900707" r="0" b="-3900807"/>
              </a:stretch>
            </a:blipFill>
            <a:ln w="19065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05961" y="6314294"/>
            <a:ext cx="1715843" cy="339987"/>
            <a:chOff x="0" y="0"/>
            <a:chExt cx="2287791" cy="4533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87787" cy="453312"/>
            </a:xfrm>
            <a:custGeom>
              <a:avLst/>
              <a:gdLst/>
              <a:ahLst/>
              <a:cxnLst/>
              <a:rect r="r" b="b" t="t" l="l"/>
              <a:pathLst>
                <a:path h="453312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453312"/>
                  </a:lnTo>
                  <a:lnTo>
                    <a:pt x="0" y="4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5" r="0" b="-427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287791" cy="47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1"/>
                </a:lnSpc>
              </a:pPr>
              <a:r>
                <a:rPr lang="en-US" sz="170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Prepared by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5961" y="6753549"/>
            <a:ext cx="8922372" cy="549069"/>
            <a:chOff x="0" y="0"/>
            <a:chExt cx="11896496" cy="7320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896494" cy="732093"/>
            </a:xfrm>
            <a:custGeom>
              <a:avLst/>
              <a:gdLst/>
              <a:ahLst/>
              <a:cxnLst/>
              <a:rect r="r" b="b" t="t" l="l"/>
              <a:pathLst>
                <a:path h="732093" w="11896494">
                  <a:moveTo>
                    <a:pt x="0" y="0"/>
                  </a:moveTo>
                  <a:lnTo>
                    <a:pt x="11896494" y="0"/>
                  </a:lnTo>
                  <a:lnTo>
                    <a:pt x="11896494" y="732093"/>
                  </a:lnTo>
                  <a:lnTo>
                    <a:pt x="0" y="7320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381" r="0" b="-2478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1896496" cy="751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1"/>
                </a:lnSpc>
              </a:pPr>
              <a:r>
                <a:rPr lang="en-US" sz="1926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Abdelrahman Hafez  |  Mohamed Elhabbak  |  Abdalrahman Abdo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5961" y="7302617"/>
            <a:ext cx="7824235" cy="379523"/>
            <a:chOff x="0" y="0"/>
            <a:chExt cx="10432313" cy="5060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32311" cy="506032"/>
            </a:xfrm>
            <a:custGeom>
              <a:avLst/>
              <a:gdLst/>
              <a:ahLst/>
              <a:cxnLst/>
              <a:rect r="r" b="b" t="t" l="l"/>
              <a:pathLst>
                <a:path h="506032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506032"/>
                  </a:lnTo>
                  <a:lnTo>
                    <a:pt x="0" y="50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491" r="0" b="-34691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432313" cy="525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1"/>
                </a:lnSpc>
              </a:pPr>
              <a:r>
                <a:rPr lang="en-US" sz="1926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Under supervision of: Dr. Mohamed El-Sayeh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73752" y="2600449"/>
            <a:ext cx="5505945" cy="4476436"/>
            <a:chOff x="0" y="0"/>
            <a:chExt cx="7341260" cy="59685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41235" cy="5968619"/>
            </a:xfrm>
            <a:custGeom>
              <a:avLst/>
              <a:gdLst/>
              <a:ahLst/>
              <a:cxnLst/>
              <a:rect r="r" b="b" t="t" l="l"/>
              <a:pathLst>
                <a:path h="5968619" w="7341235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7194296" y="0"/>
                  </a:lnTo>
                  <a:cubicBezTo>
                    <a:pt x="7275449" y="0"/>
                    <a:pt x="7341235" y="65786"/>
                    <a:pt x="7341235" y="146939"/>
                  </a:cubicBezTo>
                  <a:lnTo>
                    <a:pt x="7341235" y="5821680"/>
                  </a:lnTo>
                  <a:cubicBezTo>
                    <a:pt x="7341235" y="5902833"/>
                    <a:pt x="7275449" y="5968619"/>
                    <a:pt x="7194296" y="5968619"/>
                  </a:cubicBezTo>
                  <a:lnTo>
                    <a:pt x="146939" y="5968619"/>
                  </a:lnTo>
                  <a:cubicBezTo>
                    <a:pt x="65786" y="5968619"/>
                    <a:pt x="0" y="5902833"/>
                    <a:pt x="0" y="582168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ECE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461813" y="3129696"/>
            <a:ext cx="2059010" cy="274534"/>
            <a:chOff x="0" y="0"/>
            <a:chExt cx="2745346" cy="36604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45345" cy="366040"/>
            </a:xfrm>
            <a:custGeom>
              <a:avLst/>
              <a:gdLst/>
              <a:ahLst/>
              <a:cxnLst/>
              <a:rect r="r" b="b" t="t" l="l"/>
              <a:pathLst>
                <a:path h="366040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366040"/>
                  </a:lnTo>
                  <a:lnTo>
                    <a:pt x="0" y="366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8" r="0" b="-9614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2745346" cy="385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Engine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61813" y="3500314"/>
            <a:ext cx="2745343" cy="603352"/>
            <a:chOff x="0" y="0"/>
            <a:chExt cx="3660458" cy="80446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60460" cy="804474"/>
            </a:xfrm>
            <a:custGeom>
              <a:avLst/>
              <a:gdLst/>
              <a:ahLst/>
              <a:cxnLst/>
              <a:rect r="r" b="b" t="t" l="l"/>
              <a:pathLst>
                <a:path h="80447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804474"/>
                  </a:lnTo>
                  <a:lnTo>
                    <a:pt x="0" y="8044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46" r="0" b="-2847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3660458" cy="8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MySQL 8.0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52279" y="4273201"/>
            <a:ext cx="4480246" cy="19069"/>
            <a:chOff x="0" y="0"/>
            <a:chExt cx="5973661" cy="2542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73699" cy="25400"/>
            </a:xfrm>
            <a:custGeom>
              <a:avLst/>
              <a:gdLst/>
              <a:ahLst/>
              <a:cxnLst/>
              <a:rect r="r" b="b" t="t" l="l"/>
              <a:pathLst>
                <a:path h="25400" w="5973699">
                  <a:moveTo>
                    <a:pt x="0" y="0"/>
                  </a:moveTo>
                  <a:lnTo>
                    <a:pt x="5973699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532509" r="0" b="-4532609"/>
              </a:stretch>
            </a:blipFill>
            <a:ln w="19065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461813" y="4694539"/>
            <a:ext cx="2059010" cy="274534"/>
            <a:chOff x="0" y="0"/>
            <a:chExt cx="2745346" cy="36604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745345" cy="366040"/>
            </a:xfrm>
            <a:custGeom>
              <a:avLst/>
              <a:gdLst/>
              <a:ahLst/>
              <a:cxnLst/>
              <a:rect r="r" b="b" t="t" l="l"/>
              <a:pathLst>
                <a:path h="366040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366040"/>
                  </a:lnTo>
                  <a:lnTo>
                    <a:pt x="0" y="366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8" r="0" b="-9614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2745346" cy="385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Core Focus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461813" y="5133794"/>
            <a:ext cx="4392549" cy="933417"/>
            <a:chOff x="0" y="0"/>
            <a:chExt cx="5856732" cy="12445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856736" cy="1244551"/>
            </a:xfrm>
            <a:custGeom>
              <a:avLst/>
              <a:gdLst/>
              <a:ahLst/>
              <a:cxnLst/>
              <a:rect r="r" b="b" t="t" l="l"/>
              <a:pathLst>
                <a:path h="124455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244551"/>
                  </a:lnTo>
                  <a:lnTo>
                    <a:pt x="0" y="12445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94" r="0" b="-4169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856732" cy="1263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Scheduling, patient records, reporting, triggers, and web app support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952500" y="9581255"/>
            <a:ext cx="686333" cy="247081"/>
            <a:chOff x="0" y="0"/>
            <a:chExt cx="915111" cy="32944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5115" cy="329445"/>
            </a:xfrm>
            <a:custGeom>
              <a:avLst/>
              <a:gdLst/>
              <a:ahLst/>
              <a:cxnLst/>
              <a:rect r="r" b="b" t="t" l="l"/>
              <a:pathLst>
                <a:path h="329445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29445"/>
                  </a:lnTo>
                  <a:lnTo>
                    <a:pt x="0" y="329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915111" cy="338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96A3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06017" y="193435"/>
            <a:ext cx="7709513" cy="1865570"/>
            <a:chOff x="0" y="0"/>
            <a:chExt cx="1815914" cy="4394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15914" cy="439420"/>
            </a:xfrm>
            <a:custGeom>
              <a:avLst/>
              <a:gdLst/>
              <a:ahLst/>
              <a:cxnLst/>
              <a:rect r="r" b="b" t="t" l="l"/>
              <a:pathLst>
                <a:path h="439420" w="1815914">
                  <a:moveTo>
                    <a:pt x="23097" y="0"/>
                  </a:moveTo>
                  <a:lnTo>
                    <a:pt x="1792817" y="0"/>
                  </a:lnTo>
                  <a:cubicBezTo>
                    <a:pt x="1805573" y="0"/>
                    <a:pt x="1815914" y="10341"/>
                    <a:pt x="1815914" y="23097"/>
                  </a:cubicBezTo>
                  <a:lnTo>
                    <a:pt x="1815914" y="416323"/>
                  </a:lnTo>
                  <a:cubicBezTo>
                    <a:pt x="1815914" y="429079"/>
                    <a:pt x="1805573" y="439420"/>
                    <a:pt x="1792817" y="439420"/>
                  </a:cubicBezTo>
                  <a:lnTo>
                    <a:pt x="23097" y="439420"/>
                  </a:lnTo>
                  <a:cubicBezTo>
                    <a:pt x="10341" y="439420"/>
                    <a:pt x="0" y="429079"/>
                    <a:pt x="0" y="416323"/>
                  </a:cubicBezTo>
                  <a:lnTo>
                    <a:pt x="0" y="23097"/>
                  </a:lnTo>
                  <a:cubicBezTo>
                    <a:pt x="0" y="10341"/>
                    <a:pt x="10341" y="0"/>
                    <a:pt x="2309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41" r="0" b="-34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09" y="-27108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27108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4805793" y="-1734903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315715"/>
            <a:chOff x="0" y="0"/>
            <a:chExt cx="9883242" cy="4209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420952"/>
            </a:xfrm>
            <a:custGeom>
              <a:avLst/>
              <a:gdLst/>
              <a:ahLst/>
              <a:cxnLst/>
              <a:rect r="r" b="b" t="t" l="l"/>
              <a:pathLst>
                <a:path h="420952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420952"/>
                  </a:lnTo>
                  <a:lnTo>
                    <a:pt x="0" y="42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475" r="0" b="-4074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83242" cy="4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Motivation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12903117" cy="780547"/>
            <a:chOff x="0" y="0"/>
            <a:chExt cx="17204157" cy="1040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04161" cy="1040729"/>
            </a:xfrm>
            <a:custGeom>
              <a:avLst/>
              <a:gdLst/>
              <a:ahLst/>
              <a:cxnLst/>
              <a:rect r="r" b="b" t="t" l="l"/>
              <a:pathLst>
                <a:path h="1040729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040729"/>
                  </a:lnTo>
                  <a:lnTo>
                    <a:pt x="0" y="1040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43" r="0" b="-2704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7204157" cy="106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Idea &amp; Problem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84615" y="1975824"/>
            <a:ext cx="5969213" cy="6912992"/>
            <a:chOff x="0" y="0"/>
            <a:chExt cx="7524280" cy="87139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24242" cy="8713978"/>
            </a:xfrm>
            <a:custGeom>
              <a:avLst/>
              <a:gdLst/>
              <a:ahLst/>
              <a:cxnLst/>
              <a:rect r="r" b="b" t="t" l="l"/>
              <a:pathLst>
                <a:path h="8713978" w="7524242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377430" y="0"/>
                  </a:lnTo>
                  <a:cubicBezTo>
                    <a:pt x="7458456" y="0"/>
                    <a:pt x="7524242" y="65786"/>
                    <a:pt x="7524242" y="146812"/>
                  </a:cubicBezTo>
                  <a:lnTo>
                    <a:pt x="7524242" y="8567166"/>
                  </a:lnTo>
                  <a:cubicBezTo>
                    <a:pt x="7524242" y="8648192"/>
                    <a:pt x="7458456" y="8713978"/>
                    <a:pt x="7377430" y="8713978"/>
                  </a:cubicBezTo>
                  <a:lnTo>
                    <a:pt x="146812" y="8713978"/>
                  </a:lnTo>
                  <a:cubicBezTo>
                    <a:pt x="65786" y="8713978"/>
                    <a:pt x="0" y="8648192"/>
                    <a:pt x="0" y="8567166"/>
                  </a:cubicBezTo>
                  <a:close/>
                </a:path>
              </a:pathLst>
            </a:custGeom>
            <a:solidFill>
              <a:srgbClr val="EAF4FF"/>
            </a:solidFill>
            <a:ln w="15252" cap="sq">
              <a:solidFill>
                <a:srgbClr val="EAF4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00871" y="2463043"/>
            <a:ext cx="4936701" cy="1634727"/>
            <a:chOff x="0" y="0"/>
            <a:chExt cx="6222784" cy="20605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22781" cy="2060599"/>
            </a:xfrm>
            <a:custGeom>
              <a:avLst/>
              <a:gdLst/>
              <a:ahLst/>
              <a:cxnLst/>
              <a:rect r="r" b="b" t="t" l="l"/>
              <a:pathLst>
                <a:path h="206059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2060599"/>
                  </a:lnTo>
                  <a:lnTo>
                    <a:pt x="0" y="2060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14" r="0" b="562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222784" cy="2079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3152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Clinic data becomes hard to manage when it’s manual or unstructured.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93625" y="4754118"/>
            <a:ext cx="143582" cy="171812"/>
            <a:chOff x="0" y="0"/>
            <a:chExt cx="180988" cy="2165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1102" cy="216686"/>
            </a:xfrm>
            <a:custGeom>
              <a:avLst/>
              <a:gdLst/>
              <a:ahLst/>
              <a:cxnLst/>
              <a:rect r="r" b="b" t="t" l="l"/>
              <a:pathLst>
                <a:path h="216686" w="181102">
                  <a:moveTo>
                    <a:pt x="0" y="108354"/>
                  </a:moveTo>
                  <a:cubicBezTo>
                    <a:pt x="0" y="48478"/>
                    <a:pt x="40513" y="0"/>
                    <a:pt x="90551" y="0"/>
                  </a:cubicBezTo>
                  <a:cubicBezTo>
                    <a:pt x="140589" y="0"/>
                    <a:pt x="181102" y="48478"/>
                    <a:pt x="181102" y="108354"/>
                  </a:cubicBezTo>
                  <a:cubicBezTo>
                    <a:pt x="181102" y="168230"/>
                    <a:pt x="140589" y="216686"/>
                    <a:pt x="90551" y="216686"/>
                  </a:cubicBezTo>
                  <a:cubicBezTo>
                    <a:pt x="40513" y="216686"/>
                    <a:pt x="0" y="168078"/>
                    <a:pt x="0" y="108354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683651" y="4372973"/>
            <a:ext cx="4646302" cy="894176"/>
            <a:chOff x="0" y="0"/>
            <a:chExt cx="5856732" cy="11271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6736" cy="1127109"/>
            </a:xfrm>
            <a:custGeom>
              <a:avLst/>
              <a:gdLst/>
              <a:ahLst/>
              <a:cxnLst/>
              <a:rect r="r" b="b" t="t" l="l"/>
              <a:pathLst>
                <a:path h="1127109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127109"/>
                  </a:lnTo>
                  <a:lnTo>
                    <a:pt x="0" y="11271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5" r="0" b="-239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856732" cy="1146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Doc</a:t>
              </a:r>
              <a:r>
                <a:rPr lang="en-US" sz="210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tor double-booking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93625" y="5570718"/>
            <a:ext cx="143582" cy="171812"/>
            <a:chOff x="0" y="0"/>
            <a:chExt cx="180988" cy="2165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1102" cy="216686"/>
            </a:xfrm>
            <a:custGeom>
              <a:avLst/>
              <a:gdLst/>
              <a:ahLst/>
              <a:cxnLst/>
              <a:rect r="r" b="b" t="t" l="l"/>
              <a:pathLst>
                <a:path h="216686" w="181102">
                  <a:moveTo>
                    <a:pt x="0" y="108354"/>
                  </a:moveTo>
                  <a:cubicBezTo>
                    <a:pt x="0" y="48478"/>
                    <a:pt x="40513" y="0"/>
                    <a:pt x="90551" y="0"/>
                  </a:cubicBezTo>
                  <a:cubicBezTo>
                    <a:pt x="140589" y="0"/>
                    <a:pt x="181102" y="48478"/>
                    <a:pt x="181102" y="108354"/>
                  </a:cubicBezTo>
                  <a:cubicBezTo>
                    <a:pt x="181102" y="168230"/>
                    <a:pt x="140589" y="216686"/>
                    <a:pt x="90551" y="216686"/>
                  </a:cubicBezTo>
                  <a:cubicBezTo>
                    <a:pt x="40513" y="216686"/>
                    <a:pt x="0" y="168078"/>
                    <a:pt x="0" y="108354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636026" y="5419549"/>
            <a:ext cx="5106074" cy="730945"/>
            <a:chOff x="0" y="0"/>
            <a:chExt cx="6436281" cy="9213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36285" cy="921355"/>
            </a:xfrm>
            <a:custGeom>
              <a:avLst/>
              <a:gdLst/>
              <a:ahLst/>
              <a:cxnLst/>
              <a:rect r="r" b="b" t="t" l="l"/>
              <a:pathLst>
                <a:path h="921355" w="6436285">
                  <a:moveTo>
                    <a:pt x="0" y="0"/>
                  </a:moveTo>
                  <a:lnTo>
                    <a:pt x="6436285" y="0"/>
                  </a:lnTo>
                  <a:lnTo>
                    <a:pt x="6436285" y="921355"/>
                  </a:lnTo>
                  <a:lnTo>
                    <a:pt x="0" y="9213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048" r="9004" b="-5167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436281" cy="940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</a:t>
              </a:r>
              <a:r>
                <a:rPr lang="en-US" sz="210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consistent patient and appointment records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93625" y="6387318"/>
            <a:ext cx="143582" cy="171812"/>
            <a:chOff x="0" y="0"/>
            <a:chExt cx="180988" cy="2165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1102" cy="216686"/>
            </a:xfrm>
            <a:custGeom>
              <a:avLst/>
              <a:gdLst/>
              <a:ahLst/>
              <a:cxnLst/>
              <a:rect r="r" b="b" t="t" l="l"/>
              <a:pathLst>
                <a:path h="216686" w="181102">
                  <a:moveTo>
                    <a:pt x="0" y="108354"/>
                  </a:moveTo>
                  <a:cubicBezTo>
                    <a:pt x="0" y="48478"/>
                    <a:pt x="40513" y="0"/>
                    <a:pt x="90551" y="0"/>
                  </a:cubicBezTo>
                  <a:cubicBezTo>
                    <a:pt x="140589" y="0"/>
                    <a:pt x="181102" y="48478"/>
                    <a:pt x="181102" y="108354"/>
                  </a:cubicBezTo>
                  <a:cubicBezTo>
                    <a:pt x="181102" y="168230"/>
                    <a:pt x="140589" y="216686"/>
                    <a:pt x="90551" y="216686"/>
                  </a:cubicBezTo>
                  <a:cubicBezTo>
                    <a:pt x="40513" y="216686"/>
                    <a:pt x="0" y="168078"/>
                    <a:pt x="0" y="108354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691270" y="6014653"/>
            <a:ext cx="4646302" cy="946670"/>
            <a:chOff x="0" y="0"/>
            <a:chExt cx="5856732" cy="11932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56736" cy="1193278"/>
            </a:xfrm>
            <a:custGeom>
              <a:avLst/>
              <a:gdLst/>
              <a:ahLst/>
              <a:cxnLst/>
              <a:rect r="r" b="b" t="t" l="l"/>
              <a:pathLst>
                <a:path h="1193278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193278"/>
                  </a:lnTo>
                  <a:lnTo>
                    <a:pt x="0" y="1193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161" r="0" b="-1710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856732" cy="1212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Difficult to tracking patient history 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93625" y="7203918"/>
            <a:ext cx="143582" cy="171812"/>
            <a:chOff x="0" y="0"/>
            <a:chExt cx="180988" cy="2165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1102" cy="216686"/>
            </a:xfrm>
            <a:custGeom>
              <a:avLst/>
              <a:gdLst/>
              <a:ahLst/>
              <a:cxnLst/>
              <a:rect r="r" b="b" t="t" l="l"/>
              <a:pathLst>
                <a:path h="216686" w="181102">
                  <a:moveTo>
                    <a:pt x="0" y="108354"/>
                  </a:moveTo>
                  <a:cubicBezTo>
                    <a:pt x="0" y="48478"/>
                    <a:pt x="40513" y="0"/>
                    <a:pt x="90551" y="0"/>
                  </a:cubicBezTo>
                  <a:cubicBezTo>
                    <a:pt x="140589" y="0"/>
                    <a:pt x="181102" y="48478"/>
                    <a:pt x="181102" y="108354"/>
                  </a:cubicBezTo>
                  <a:cubicBezTo>
                    <a:pt x="181102" y="168230"/>
                    <a:pt x="140589" y="216686"/>
                    <a:pt x="90551" y="216686"/>
                  </a:cubicBezTo>
                  <a:cubicBezTo>
                    <a:pt x="40513" y="216686"/>
                    <a:pt x="0" y="168078"/>
                    <a:pt x="0" y="108354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636026" y="7057789"/>
            <a:ext cx="4693927" cy="894176"/>
            <a:chOff x="0" y="0"/>
            <a:chExt cx="5916764" cy="112712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16768" cy="1127109"/>
            </a:xfrm>
            <a:custGeom>
              <a:avLst/>
              <a:gdLst/>
              <a:ahLst/>
              <a:cxnLst/>
              <a:rect r="r" b="b" t="t" l="l"/>
              <a:pathLst>
                <a:path h="1127109" w="5916768">
                  <a:moveTo>
                    <a:pt x="0" y="0"/>
                  </a:moveTo>
                  <a:lnTo>
                    <a:pt x="5916768" y="0"/>
                  </a:lnTo>
                  <a:lnTo>
                    <a:pt x="5916768" y="1127109"/>
                  </a:lnTo>
                  <a:lnTo>
                    <a:pt x="0" y="11271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5" r="1014" b="-2398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916764" cy="1146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</a:t>
              </a:r>
              <a:r>
                <a:rPr lang="en-US" sz="210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low reporting for administration and finance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53828" y="4863455"/>
            <a:ext cx="1048569" cy="636765"/>
            <a:chOff x="0" y="0"/>
            <a:chExt cx="1398092" cy="8490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98143" cy="848995"/>
            </a:xfrm>
            <a:custGeom>
              <a:avLst/>
              <a:gdLst/>
              <a:ahLst/>
              <a:cxnLst/>
              <a:rect r="r" b="b" t="t" l="l"/>
              <a:pathLst>
                <a:path h="848995" w="1398143">
                  <a:moveTo>
                    <a:pt x="0" y="212217"/>
                  </a:moveTo>
                  <a:lnTo>
                    <a:pt x="973582" y="212217"/>
                  </a:lnTo>
                  <a:lnTo>
                    <a:pt x="973582" y="0"/>
                  </a:lnTo>
                  <a:lnTo>
                    <a:pt x="1398143" y="424561"/>
                  </a:lnTo>
                  <a:lnTo>
                    <a:pt x="973582" y="848995"/>
                  </a:lnTo>
                  <a:lnTo>
                    <a:pt x="973582" y="636778"/>
                  </a:lnTo>
                  <a:lnTo>
                    <a:pt x="0" y="636778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8228409" y="1825657"/>
            <a:ext cx="9733482" cy="7063159"/>
            <a:chOff x="0" y="0"/>
            <a:chExt cx="12008345" cy="871392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008231" cy="8713851"/>
            </a:xfrm>
            <a:custGeom>
              <a:avLst/>
              <a:gdLst/>
              <a:ahLst/>
              <a:cxnLst/>
              <a:rect r="r" b="b" t="t" l="l"/>
              <a:pathLst>
                <a:path h="8713851" w="12008231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1861546" y="0"/>
                  </a:lnTo>
                  <a:cubicBezTo>
                    <a:pt x="11942572" y="0"/>
                    <a:pt x="12008231" y="65659"/>
                    <a:pt x="12008231" y="146685"/>
                  </a:cubicBezTo>
                  <a:lnTo>
                    <a:pt x="12008231" y="8567166"/>
                  </a:lnTo>
                  <a:cubicBezTo>
                    <a:pt x="12008231" y="8648192"/>
                    <a:pt x="11942572" y="8713851"/>
                    <a:pt x="11861546" y="8713851"/>
                  </a:cubicBezTo>
                  <a:lnTo>
                    <a:pt x="146685" y="8713851"/>
                  </a:lnTo>
                  <a:cubicBezTo>
                    <a:pt x="65659" y="8713978"/>
                    <a:pt x="0" y="8648192"/>
                    <a:pt x="0" y="856716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755880" y="2293792"/>
            <a:ext cx="7862610" cy="577353"/>
            <a:chOff x="0" y="0"/>
            <a:chExt cx="9700222" cy="71229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00218" cy="712295"/>
            </a:xfrm>
            <a:custGeom>
              <a:avLst/>
              <a:gdLst/>
              <a:ahLst/>
              <a:cxnLst/>
              <a:rect r="r" b="b" t="t" l="l"/>
              <a:pathLst>
                <a:path h="712295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712295"/>
                  </a:lnTo>
                  <a:lnTo>
                    <a:pt x="0" y="712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386" r="0" b="-21031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9700222" cy="731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Problems solved by the system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366429" y="3151547"/>
            <a:ext cx="4616664" cy="2115603"/>
            <a:chOff x="0" y="0"/>
            <a:chExt cx="5236489" cy="2399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36464" cy="2399665"/>
            </a:xfrm>
            <a:custGeom>
              <a:avLst/>
              <a:gdLst/>
              <a:ahLst/>
              <a:cxnLst/>
              <a:rect r="r" b="b" t="t" l="l"/>
              <a:pathLst>
                <a:path h="2399665" w="52364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5088763" y="0"/>
                  </a:lnTo>
                  <a:cubicBezTo>
                    <a:pt x="5170297" y="0"/>
                    <a:pt x="5236464" y="66167"/>
                    <a:pt x="5236464" y="147701"/>
                  </a:cubicBezTo>
                  <a:lnTo>
                    <a:pt x="5236464" y="2251964"/>
                  </a:lnTo>
                  <a:cubicBezTo>
                    <a:pt x="5236464" y="2333498"/>
                    <a:pt x="5170297" y="2399665"/>
                    <a:pt x="5088763" y="2399665"/>
                  </a:cubicBezTo>
                  <a:lnTo>
                    <a:pt x="147701" y="2399665"/>
                  </a:lnTo>
                  <a:cubicBezTo>
                    <a:pt x="66167" y="2399665"/>
                    <a:pt x="0" y="2333498"/>
                    <a:pt x="0" y="225196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8654633" y="3439751"/>
            <a:ext cx="700121" cy="700121"/>
            <a:chOff x="0" y="0"/>
            <a:chExt cx="794118" cy="79411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714256" y="3612315"/>
            <a:ext cx="580898" cy="293928"/>
            <a:chOff x="0" y="0"/>
            <a:chExt cx="658889" cy="3333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8883" cy="333380"/>
            </a:xfrm>
            <a:custGeom>
              <a:avLst/>
              <a:gdLst/>
              <a:ahLst/>
              <a:cxnLst/>
              <a:rect r="r" b="b" t="t" l="l"/>
              <a:pathLst>
                <a:path h="33338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333380"/>
                  </a:lnTo>
                  <a:lnTo>
                    <a:pt x="0" y="333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9" r="0" b="2854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658889" cy="35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504914" y="3434824"/>
            <a:ext cx="3178778" cy="432027"/>
            <a:chOff x="0" y="0"/>
            <a:chExt cx="3605555" cy="49003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05553" cy="490033"/>
            </a:xfrm>
            <a:custGeom>
              <a:avLst/>
              <a:gdLst/>
              <a:ahLst/>
              <a:cxnLst/>
              <a:rect r="r" b="b" t="t" l="l"/>
              <a:pathLst>
                <a:path h="490033" w="3605553">
                  <a:moveTo>
                    <a:pt x="0" y="0"/>
                  </a:moveTo>
                  <a:lnTo>
                    <a:pt x="3605553" y="0"/>
                  </a:lnTo>
                  <a:lnTo>
                    <a:pt x="3605553" y="490033"/>
                  </a:lnTo>
                  <a:lnTo>
                    <a:pt x="0" y="490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813" r="0" b="-9192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605555" cy="509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 double-booking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8965544" y="4369436"/>
            <a:ext cx="4017549" cy="55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 rules prevent overlapping appointments for the same doctor.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3207207" y="3151547"/>
            <a:ext cx="4616664" cy="2115603"/>
            <a:chOff x="0" y="0"/>
            <a:chExt cx="5236489" cy="2399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36464" cy="2399665"/>
            </a:xfrm>
            <a:custGeom>
              <a:avLst/>
              <a:gdLst/>
              <a:ahLst/>
              <a:cxnLst/>
              <a:rect r="r" b="b" t="t" l="l"/>
              <a:pathLst>
                <a:path h="2399665" w="52364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5088763" y="0"/>
                  </a:lnTo>
                  <a:cubicBezTo>
                    <a:pt x="5170297" y="0"/>
                    <a:pt x="5236464" y="66167"/>
                    <a:pt x="5236464" y="147701"/>
                  </a:cubicBezTo>
                  <a:lnTo>
                    <a:pt x="5236464" y="2251964"/>
                  </a:lnTo>
                  <a:cubicBezTo>
                    <a:pt x="5236464" y="2333498"/>
                    <a:pt x="5170297" y="2399665"/>
                    <a:pt x="5088763" y="2399665"/>
                  </a:cubicBezTo>
                  <a:lnTo>
                    <a:pt x="147701" y="2399665"/>
                  </a:lnTo>
                  <a:cubicBezTo>
                    <a:pt x="66167" y="2399665"/>
                    <a:pt x="0" y="2333498"/>
                    <a:pt x="0" y="225196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3495412" y="3439751"/>
            <a:ext cx="700121" cy="700121"/>
            <a:chOff x="0" y="0"/>
            <a:chExt cx="794118" cy="79411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55023" y="3612315"/>
            <a:ext cx="580898" cy="293928"/>
            <a:chOff x="0" y="0"/>
            <a:chExt cx="658889" cy="33339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8883" cy="333380"/>
            </a:xfrm>
            <a:custGeom>
              <a:avLst/>
              <a:gdLst/>
              <a:ahLst/>
              <a:cxnLst/>
              <a:rect r="r" b="b" t="t" l="l"/>
              <a:pathLst>
                <a:path h="33338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333380"/>
                  </a:lnTo>
                  <a:lnTo>
                    <a:pt x="0" y="333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9" r="0" b="2854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658889" cy="35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345692" y="3434824"/>
            <a:ext cx="3178778" cy="432027"/>
            <a:chOff x="0" y="0"/>
            <a:chExt cx="3605555" cy="49003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05553" cy="490033"/>
            </a:xfrm>
            <a:custGeom>
              <a:avLst/>
              <a:gdLst/>
              <a:ahLst/>
              <a:cxnLst/>
              <a:rect r="r" b="b" t="t" l="l"/>
              <a:pathLst>
                <a:path h="490033" w="3605553">
                  <a:moveTo>
                    <a:pt x="0" y="0"/>
                  </a:moveTo>
                  <a:lnTo>
                    <a:pt x="3605553" y="0"/>
                  </a:lnTo>
                  <a:lnTo>
                    <a:pt x="3605553" y="490033"/>
                  </a:lnTo>
                  <a:lnTo>
                    <a:pt x="0" y="490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813" r="0" b="-9192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3605555" cy="509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Consistent records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3698789" y="4263568"/>
            <a:ext cx="4017549" cy="55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Every appointment must reference an existing patient and doctor.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8366429" y="5733292"/>
            <a:ext cx="4616664" cy="2115603"/>
            <a:chOff x="0" y="0"/>
            <a:chExt cx="5236489" cy="2399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36464" cy="2399665"/>
            </a:xfrm>
            <a:custGeom>
              <a:avLst/>
              <a:gdLst/>
              <a:ahLst/>
              <a:cxnLst/>
              <a:rect r="r" b="b" t="t" l="l"/>
              <a:pathLst>
                <a:path h="2399665" w="52364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5088763" y="0"/>
                  </a:lnTo>
                  <a:cubicBezTo>
                    <a:pt x="5170297" y="0"/>
                    <a:pt x="5236464" y="66167"/>
                    <a:pt x="5236464" y="147701"/>
                  </a:cubicBezTo>
                  <a:lnTo>
                    <a:pt x="5236464" y="2251964"/>
                  </a:lnTo>
                  <a:cubicBezTo>
                    <a:pt x="5236464" y="2333498"/>
                    <a:pt x="5170297" y="2399665"/>
                    <a:pt x="5088763" y="2399665"/>
                  </a:cubicBezTo>
                  <a:lnTo>
                    <a:pt x="147701" y="2399665"/>
                  </a:lnTo>
                  <a:cubicBezTo>
                    <a:pt x="66167" y="2399665"/>
                    <a:pt x="0" y="2333498"/>
                    <a:pt x="0" y="225196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8654633" y="6021496"/>
            <a:ext cx="700121" cy="700121"/>
            <a:chOff x="0" y="0"/>
            <a:chExt cx="794118" cy="79411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714256" y="6194061"/>
            <a:ext cx="580898" cy="293928"/>
            <a:chOff x="0" y="0"/>
            <a:chExt cx="658889" cy="33339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58883" cy="333380"/>
            </a:xfrm>
            <a:custGeom>
              <a:avLst/>
              <a:gdLst/>
              <a:ahLst/>
              <a:cxnLst/>
              <a:rect r="r" b="b" t="t" l="l"/>
              <a:pathLst>
                <a:path h="33338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333380"/>
                  </a:lnTo>
                  <a:lnTo>
                    <a:pt x="0" y="333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9" r="0" b="2854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658889" cy="35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504914" y="6016570"/>
            <a:ext cx="3178778" cy="432027"/>
            <a:chOff x="0" y="0"/>
            <a:chExt cx="3605555" cy="49003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605553" cy="490033"/>
            </a:xfrm>
            <a:custGeom>
              <a:avLst/>
              <a:gdLst/>
              <a:ahLst/>
              <a:cxnLst/>
              <a:rect r="r" b="b" t="t" l="l"/>
              <a:pathLst>
                <a:path h="490033" w="3605553">
                  <a:moveTo>
                    <a:pt x="0" y="0"/>
                  </a:moveTo>
                  <a:lnTo>
                    <a:pt x="3605553" y="0"/>
                  </a:lnTo>
                  <a:lnTo>
                    <a:pt x="3605553" y="490033"/>
                  </a:lnTo>
                  <a:lnTo>
                    <a:pt x="0" y="490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813" r="0" b="-9192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3605555" cy="509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Clear reporting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8965544" y="6793608"/>
            <a:ext cx="4017549" cy="82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Views and queries summarize appointments, history, revenue, and workload.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3207207" y="5733292"/>
            <a:ext cx="4616664" cy="2115603"/>
            <a:chOff x="0" y="0"/>
            <a:chExt cx="5236489" cy="2399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236464" cy="2399665"/>
            </a:xfrm>
            <a:custGeom>
              <a:avLst/>
              <a:gdLst/>
              <a:ahLst/>
              <a:cxnLst/>
              <a:rect r="r" b="b" t="t" l="l"/>
              <a:pathLst>
                <a:path h="2399665" w="52364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5088763" y="0"/>
                  </a:lnTo>
                  <a:cubicBezTo>
                    <a:pt x="5170297" y="0"/>
                    <a:pt x="5236464" y="66167"/>
                    <a:pt x="5236464" y="147701"/>
                  </a:cubicBezTo>
                  <a:lnTo>
                    <a:pt x="5236464" y="2251964"/>
                  </a:lnTo>
                  <a:cubicBezTo>
                    <a:pt x="5236464" y="2333498"/>
                    <a:pt x="5170297" y="2399665"/>
                    <a:pt x="5088763" y="2399665"/>
                  </a:cubicBezTo>
                  <a:lnTo>
                    <a:pt x="147701" y="2399665"/>
                  </a:lnTo>
                  <a:cubicBezTo>
                    <a:pt x="66167" y="2399665"/>
                    <a:pt x="0" y="2333498"/>
                    <a:pt x="0" y="225196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3495412" y="6021496"/>
            <a:ext cx="700121" cy="700121"/>
            <a:chOff x="0" y="0"/>
            <a:chExt cx="794118" cy="79411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3555023" y="6194061"/>
            <a:ext cx="580898" cy="293928"/>
            <a:chOff x="0" y="0"/>
            <a:chExt cx="658889" cy="33339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58883" cy="333380"/>
            </a:xfrm>
            <a:custGeom>
              <a:avLst/>
              <a:gdLst/>
              <a:ahLst/>
              <a:cxnLst/>
              <a:rect r="r" b="b" t="t" l="l"/>
              <a:pathLst>
                <a:path h="33338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333380"/>
                  </a:lnTo>
                  <a:lnTo>
                    <a:pt x="0" y="333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9" r="0" b="2854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658889" cy="35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345692" y="6016570"/>
            <a:ext cx="3178778" cy="432027"/>
            <a:chOff x="0" y="0"/>
            <a:chExt cx="3605555" cy="49003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05553" cy="490033"/>
            </a:xfrm>
            <a:custGeom>
              <a:avLst/>
              <a:gdLst/>
              <a:ahLst/>
              <a:cxnLst/>
              <a:rect r="r" b="b" t="t" l="l"/>
              <a:pathLst>
                <a:path h="490033" w="3605553">
                  <a:moveTo>
                    <a:pt x="0" y="0"/>
                  </a:moveTo>
                  <a:lnTo>
                    <a:pt x="3605553" y="0"/>
                  </a:lnTo>
                  <a:lnTo>
                    <a:pt x="3605553" y="490033"/>
                  </a:lnTo>
                  <a:lnTo>
                    <a:pt x="0" y="490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813" r="0" b="-9192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3605555" cy="509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Operational workflow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3621284" y="6942274"/>
            <a:ext cx="4017549" cy="55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Scheduling, clinical updates, and administrative follow-up are connected.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6952500" y="9581255"/>
            <a:ext cx="686333" cy="247081"/>
            <a:chOff x="0" y="0"/>
            <a:chExt cx="915111" cy="32944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5115" cy="329445"/>
            </a:xfrm>
            <a:custGeom>
              <a:avLst/>
              <a:gdLst/>
              <a:ahLst/>
              <a:cxnLst/>
              <a:rect r="r" b="b" t="t" l="l"/>
              <a:pathLst>
                <a:path h="329445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29445"/>
                  </a:lnTo>
                  <a:lnTo>
                    <a:pt x="0" y="329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915111" cy="338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4805793" y="-1734903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315715"/>
            <a:chOff x="0" y="0"/>
            <a:chExt cx="9883242" cy="4209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420952"/>
            </a:xfrm>
            <a:custGeom>
              <a:avLst/>
              <a:gdLst/>
              <a:ahLst/>
              <a:cxnLst/>
              <a:rect r="r" b="b" t="t" l="l"/>
              <a:pathLst>
                <a:path h="420952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420952"/>
                  </a:lnTo>
                  <a:lnTo>
                    <a:pt x="0" y="42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475" r="0" b="-4074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83242" cy="4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Scope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4261237" cy="818858"/>
            <a:chOff x="0" y="0"/>
            <a:chExt cx="5681649" cy="10918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81653" cy="1091810"/>
            </a:xfrm>
            <a:custGeom>
              <a:avLst/>
              <a:gdLst/>
              <a:ahLst/>
              <a:cxnLst/>
              <a:rect r="r" b="b" t="t" l="l"/>
              <a:pathLst>
                <a:path h="1091810" w="5681653">
                  <a:moveTo>
                    <a:pt x="0" y="0"/>
                  </a:moveTo>
                  <a:lnTo>
                    <a:pt x="5681653" y="0"/>
                  </a:lnTo>
                  <a:lnTo>
                    <a:pt x="5681653" y="1091810"/>
                  </a:lnTo>
                  <a:lnTo>
                    <a:pt x="0" y="10918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35" r="-202801" b="-2531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681649" cy="1120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23"/>
                </a:lnSpc>
              </a:pPr>
              <a:r>
                <a:rPr lang="en-US" sz="41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Objectives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84615" y="1849488"/>
            <a:ext cx="15737568" cy="795402"/>
            <a:chOff x="0" y="0"/>
            <a:chExt cx="20983424" cy="10605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83426" cy="1060524"/>
            </a:xfrm>
            <a:custGeom>
              <a:avLst/>
              <a:gdLst/>
              <a:ahLst/>
              <a:cxnLst/>
              <a:rect r="r" b="b" t="t" l="l"/>
              <a:pathLst>
                <a:path h="1060524" w="20983426">
                  <a:moveTo>
                    <a:pt x="0" y="0"/>
                  </a:moveTo>
                  <a:lnTo>
                    <a:pt x="20983426" y="0"/>
                  </a:lnTo>
                  <a:lnTo>
                    <a:pt x="20983426" y="1060524"/>
                  </a:lnTo>
                  <a:lnTo>
                    <a:pt x="0" y="1060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920" r="8416" b="-2772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0983424" cy="1079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project aims to design, implement, and test a relational database for clinic operations.</a:t>
              </a:r>
            </a:p>
            <a:p>
              <a:pPr algn="l">
                <a:lnSpc>
                  <a:spcPts val="270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84615" y="2984802"/>
            <a:ext cx="5231406" cy="1964446"/>
            <a:chOff x="0" y="0"/>
            <a:chExt cx="6975208" cy="261926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75221" cy="2619248"/>
            </a:xfrm>
            <a:custGeom>
              <a:avLst/>
              <a:gdLst/>
              <a:ahLst/>
              <a:cxnLst/>
              <a:rect r="r" b="b" t="t" l="l"/>
              <a:pathLst>
                <a:path h="2619248" w="6975221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647" y="0"/>
                  </a:lnTo>
                  <a:cubicBezTo>
                    <a:pt x="6909181" y="0"/>
                    <a:pt x="6975221" y="66040"/>
                    <a:pt x="6975221" y="147574"/>
                  </a:cubicBezTo>
                  <a:lnTo>
                    <a:pt x="6975221" y="2471674"/>
                  </a:lnTo>
                  <a:cubicBezTo>
                    <a:pt x="6975221" y="2553208"/>
                    <a:pt x="6909181" y="2619248"/>
                    <a:pt x="6827647" y="2619248"/>
                  </a:cubicBezTo>
                  <a:lnTo>
                    <a:pt x="147574" y="2619248"/>
                  </a:lnTo>
                  <a:cubicBezTo>
                    <a:pt x="66040" y="2619248"/>
                    <a:pt x="0" y="2553208"/>
                    <a:pt x="0" y="247167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29789" y="3229975"/>
            <a:ext cx="595589" cy="595589"/>
            <a:chOff x="0" y="0"/>
            <a:chExt cx="794118" cy="7941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80500" y="3376774"/>
            <a:ext cx="494167" cy="328022"/>
            <a:chOff x="0" y="0"/>
            <a:chExt cx="658889" cy="4373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53108" y="3225784"/>
            <a:ext cx="4008206" cy="452502"/>
            <a:chOff x="0" y="0"/>
            <a:chExt cx="5344274" cy="6033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44271" cy="603340"/>
            </a:xfrm>
            <a:custGeom>
              <a:avLst/>
              <a:gdLst/>
              <a:ahLst/>
              <a:cxnLst/>
              <a:rect r="r" b="b" t="t" l="l"/>
              <a:pathLst>
                <a:path h="60334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03340"/>
                  </a:lnTo>
                  <a:lnTo>
                    <a:pt x="0" y="603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120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344274" cy="622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Manage core entities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80500" y="4036835"/>
            <a:ext cx="472174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Departments, clinics, doctors, patients, and appointments.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581204" y="2984802"/>
            <a:ext cx="5231406" cy="1964446"/>
            <a:chOff x="0" y="0"/>
            <a:chExt cx="6975208" cy="261926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75221" cy="2619248"/>
            </a:xfrm>
            <a:custGeom>
              <a:avLst/>
              <a:gdLst/>
              <a:ahLst/>
              <a:cxnLst/>
              <a:rect r="r" b="b" t="t" l="l"/>
              <a:pathLst>
                <a:path h="2619248" w="6975221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647" y="0"/>
                  </a:lnTo>
                  <a:cubicBezTo>
                    <a:pt x="6909181" y="0"/>
                    <a:pt x="6975221" y="66040"/>
                    <a:pt x="6975221" y="147574"/>
                  </a:cubicBezTo>
                  <a:lnTo>
                    <a:pt x="6975221" y="2471674"/>
                  </a:lnTo>
                  <a:cubicBezTo>
                    <a:pt x="6975221" y="2553208"/>
                    <a:pt x="6909181" y="2619248"/>
                    <a:pt x="6827647" y="2619248"/>
                  </a:cubicBezTo>
                  <a:lnTo>
                    <a:pt x="147574" y="2619248"/>
                  </a:lnTo>
                  <a:cubicBezTo>
                    <a:pt x="66040" y="2619248"/>
                    <a:pt x="0" y="2553208"/>
                    <a:pt x="0" y="247167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826377" y="3229975"/>
            <a:ext cx="595589" cy="595589"/>
            <a:chOff x="0" y="0"/>
            <a:chExt cx="794118" cy="7941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77088" y="3376774"/>
            <a:ext cx="494167" cy="328022"/>
            <a:chOff x="0" y="0"/>
            <a:chExt cx="658889" cy="4373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549696" y="3225784"/>
            <a:ext cx="4008206" cy="452502"/>
            <a:chOff x="0" y="0"/>
            <a:chExt cx="5344274" cy="6033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44271" cy="603340"/>
            </a:xfrm>
            <a:custGeom>
              <a:avLst/>
              <a:gdLst/>
              <a:ahLst/>
              <a:cxnLst/>
              <a:rect r="r" b="b" t="t" l="l"/>
              <a:pathLst>
                <a:path h="60334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03340"/>
                  </a:lnTo>
                  <a:lnTo>
                    <a:pt x="0" y="603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1203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5344274" cy="622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Store clinical details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877088" y="4045877"/>
            <a:ext cx="472174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Appointment date, time interval, cost, status, and diagnosis.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277792" y="2984802"/>
            <a:ext cx="5231406" cy="1964446"/>
            <a:chOff x="0" y="0"/>
            <a:chExt cx="6975208" cy="261926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75221" cy="2619248"/>
            </a:xfrm>
            <a:custGeom>
              <a:avLst/>
              <a:gdLst/>
              <a:ahLst/>
              <a:cxnLst/>
              <a:rect r="r" b="b" t="t" l="l"/>
              <a:pathLst>
                <a:path h="2619248" w="6975221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647" y="0"/>
                  </a:lnTo>
                  <a:cubicBezTo>
                    <a:pt x="6909181" y="0"/>
                    <a:pt x="6975221" y="66040"/>
                    <a:pt x="6975221" y="147574"/>
                  </a:cubicBezTo>
                  <a:lnTo>
                    <a:pt x="6975221" y="2471674"/>
                  </a:lnTo>
                  <a:cubicBezTo>
                    <a:pt x="6975221" y="2553208"/>
                    <a:pt x="6909181" y="2619248"/>
                    <a:pt x="6827647" y="2619248"/>
                  </a:cubicBezTo>
                  <a:lnTo>
                    <a:pt x="147574" y="2619248"/>
                  </a:lnTo>
                  <a:cubicBezTo>
                    <a:pt x="66040" y="2619248"/>
                    <a:pt x="0" y="2553208"/>
                    <a:pt x="0" y="247167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522965" y="3229975"/>
            <a:ext cx="595589" cy="595589"/>
            <a:chOff x="0" y="0"/>
            <a:chExt cx="794118" cy="79411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2573676" y="3376774"/>
            <a:ext cx="494167" cy="328022"/>
            <a:chOff x="0" y="0"/>
            <a:chExt cx="658889" cy="4373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46284" y="3225784"/>
            <a:ext cx="4008206" cy="452502"/>
            <a:chOff x="0" y="0"/>
            <a:chExt cx="5344274" cy="603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44271" cy="603340"/>
            </a:xfrm>
            <a:custGeom>
              <a:avLst/>
              <a:gdLst/>
              <a:ahLst/>
              <a:cxnLst/>
              <a:rect r="r" b="b" t="t" l="l"/>
              <a:pathLst>
                <a:path h="60334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03340"/>
                  </a:lnTo>
                  <a:lnTo>
                    <a:pt x="0" y="603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1203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344274" cy="622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Protect data quality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574610" y="4045877"/>
            <a:ext cx="472174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Constraints and triggers prevent invalid data and double-booking.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884615" y="5483066"/>
            <a:ext cx="5231406" cy="1964446"/>
            <a:chOff x="0" y="0"/>
            <a:chExt cx="6975208" cy="261926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975221" cy="2619248"/>
            </a:xfrm>
            <a:custGeom>
              <a:avLst/>
              <a:gdLst/>
              <a:ahLst/>
              <a:cxnLst/>
              <a:rect r="r" b="b" t="t" l="l"/>
              <a:pathLst>
                <a:path h="2619248" w="6975221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647" y="0"/>
                  </a:lnTo>
                  <a:cubicBezTo>
                    <a:pt x="6909181" y="0"/>
                    <a:pt x="6975221" y="66040"/>
                    <a:pt x="6975221" y="147574"/>
                  </a:cubicBezTo>
                  <a:lnTo>
                    <a:pt x="6975221" y="2471674"/>
                  </a:lnTo>
                  <a:cubicBezTo>
                    <a:pt x="6975221" y="2553208"/>
                    <a:pt x="6909181" y="2619248"/>
                    <a:pt x="6827647" y="2619248"/>
                  </a:cubicBezTo>
                  <a:lnTo>
                    <a:pt x="147574" y="2619248"/>
                  </a:lnTo>
                  <a:cubicBezTo>
                    <a:pt x="66040" y="2619248"/>
                    <a:pt x="0" y="2553208"/>
                    <a:pt x="0" y="247167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29789" y="5728240"/>
            <a:ext cx="595589" cy="595589"/>
            <a:chOff x="0" y="0"/>
            <a:chExt cx="794118" cy="79411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80500" y="5875039"/>
            <a:ext cx="494167" cy="328022"/>
            <a:chOff x="0" y="0"/>
            <a:chExt cx="658889" cy="43736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853108" y="5724039"/>
            <a:ext cx="4008206" cy="452502"/>
            <a:chOff x="0" y="0"/>
            <a:chExt cx="5344274" cy="6033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44271" cy="603340"/>
            </a:xfrm>
            <a:custGeom>
              <a:avLst/>
              <a:gdLst/>
              <a:ahLst/>
              <a:cxnLst/>
              <a:rect r="r" b="b" t="t" l="l"/>
              <a:pathLst>
                <a:path h="60334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03340"/>
                  </a:lnTo>
                  <a:lnTo>
                    <a:pt x="0" y="603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1203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344274" cy="622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Support reporting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180500" y="6544142"/>
            <a:ext cx="472174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Views and SQL queries cover schedules, history, revenue, and workload.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581204" y="5483066"/>
            <a:ext cx="5231406" cy="1964446"/>
            <a:chOff x="0" y="0"/>
            <a:chExt cx="6975208" cy="261926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975221" cy="2619248"/>
            </a:xfrm>
            <a:custGeom>
              <a:avLst/>
              <a:gdLst/>
              <a:ahLst/>
              <a:cxnLst/>
              <a:rect r="r" b="b" t="t" l="l"/>
              <a:pathLst>
                <a:path h="2619248" w="6975221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647" y="0"/>
                  </a:lnTo>
                  <a:cubicBezTo>
                    <a:pt x="6909181" y="0"/>
                    <a:pt x="6975221" y="66040"/>
                    <a:pt x="6975221" y="147574"/>
                  </a:cubicBezTo>
                  <a:lnTo>
                    <a:pt x="6975221" y="2471674"/>
                  </a:lnTo>
                  <a:cubicBezTo>
                    <a:pt x="6975221" y="2553208"/>
                    <a:pt x="6909181" y="2619248"/>
                    <a:pt x="6827647" y="2619248"/>
                  </a:cubicBezTo>
                  <a:lnTo>
                    <a:pt x="147574" y="2619248"/>
                  </a:lnTo>
                  <a:cubicBezTo>
                    <a:pt x="66040" y="2619248"/>
                    <a:pt x="0" y="2553208"/>
                    <a:pt x="0" y="247167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6826377" y="5728240"/>
            <a:ext cx="595589" cy="595589"/>
            <a:chOff x="0" y="0"/>
            <a:chExt cx="794118" cy="79411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877088" y="5875039"/>
            <a:ext cx="494167" cy="328022"/>
            <a:chOff x="0" y="0"/>
            <a:chExt cx="658889" cy="43736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549696" y="5724039"/>
            <a:ext cx="4008206" cy="452502"/>
            <a:chOff x="0" y="0"/>
            <a:chExt cx="5344274" cy="603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344271" cy="603340"/>
            </a:xfrm>
            <a:custGeom>
              <a:avLst/>
              <a:gdLst/>
              <a:ahLst/>
              <a:cxnLst/>
              <a:rect r="r" b="b" t="t" l="l"/>
              <a:pathLst>
                <a:path h="60334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03340"/>
                  </a:lnTo>
                  <a:lnTo>
                    <a:pt x="0" y="603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1203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5344274" cy="622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Validate in MySQL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6963451" y="6544142"/>
            <a:ext cx="472174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Scripts were executed and tested using MySQL Workbench.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277792" y="5483066"/>
            <a:ext cx="5231406" cy="1964446"/>
            <a:chOff x="0" y="0"/>
            <a:chExt cx="6975208" cy="261926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75221" cy="2619248"/>
            </a:xfrm>
            <a:custGeom>
              <a:avLst/>
              <a:gdLst/>
              <a:ahLst/>
              <a:cxnLst/>
              <a:rect r="r" b="b" t="t" l="l"/>
              <a:pathLst>
                <a:path h="2619248" w="6975221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647" y="0"/>
                  </a:lnTo>
                  <a:cubicBezTo>
                    <a:pt x="6909181" y="0"/>
                    <a:pt x="6975221" y="66040"/>
                    <a:pt x="6975221" y="147574"/>
                  </a:cubicBezTo>
                  <a:lnTo>
                    <a:pt x="6975221" y="2471674"/>
                  </a:lnTo>
                  <a:cubicBezTo>
                    <a:pt x="6975221" y="2553208"/>
                    <a:pt x="6909181" y="2619248"/>
                    <a:pt x="6827647" y="2619248"/>
                  </a:cubicBezTo>
                  <a:lnTo>
                    <a:pt x="147574" y="2619248"/>
                  </a:lnTo>
                  <a:cubicBezTo>
                    <a:pt x="66040" y="2619248"/>
                    <a:pt x="0" y="2553208"/>
                    <a:pt x="0" y="247167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522965" y="5728240"/>
            <a:ext cx="595589" cy="595589"/>
            <a:chOff x="0" y="0"/>
            <a:chExt cx="794118" cy="79411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2573676" y="5875039"/>
            <a:ext cx="494167" cy="328022"/>
            <a:chOff x="0" y="0"/>
            <a:chExt cx="658889" cy="43736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06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246284" y="5724039"/>
            <a:ext cx="4008206" cy="452502"/>
            <a:chOff x="0" y="0"/>
            <a:chExt cx="5344274" cy="60333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44271" cy="603340"/>
            </a:xfrm>
            <a:custGeom>
              <a:avLst/>
              <a:gdLst/>
              <a:ahLst/>
              <a:cxnLst/>
              <a:rect r="r" b="b" t="t" l="l"/>
              <a:pathLst>
                <a:path h="60334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03340"/>
                  </a:lnTo>
                  <a:lnTo>
                    <a:pt x="0" y="603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1203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5344274" cy="622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Enable web app use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2532624" y="6446239"/>
            <a:ext cx="472174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and frontend structure connects the browser interface to MySQL.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6215769" y="9276312"/>
            <a:ext cx="1293429" cy="649687"/>
            <a:chOff x="0" y="0"/>
            <a:chExt cx="915111" cy="45965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5115" cy="459662"/>
            </a:xfrm>
            <a:custGeom>
              <a:avLst/>
              <a:gdLst/>
              <a:ahLst/>
              <a:cxnLst/>
              <a:rect r="r" b="b" t="t" l="l"/>
              <a:pathLst>
                <a:path h="459662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459662"/>
                  </a:lnTo>
                  <a:lnTo>
                    <a:pt x="0" y="4596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6" r="0" b="2537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915111" cy="478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20"/>
                </a:lnSpc>
              </a:pPr>
              <a:r>
                <a:rPr lang="en-US" sz="18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3876624" y="-1327436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315715"/>
            <a:chOff x="0" y="0"/>
            <a:chExt cx="9883242" cy="4209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420952"/>
            </a:xfrm>
            <a:custGeom>
              <a:avLst/>
              <a:gdLst/>
              <a:ahLst/>
              <a:cxnLst/>
              <a:rect r="r" b="b" t="t" l="l"/>
              <a:pathLst>
                <a:path h="420952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420952"/>
                  </a:lnTo>
                  <a:lnTo>
                    <a:pt x="0" y="42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475" r="0" b="-4074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83242" cy="4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Clinic Workflow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12903117" cy="842776"/>
            <a:chOff x="0" y="0"/>
            <a:chExt cx="17204157" cy="11237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04161" cy="1123700"/>
            </a:xfrm>
            <a:custGeom>
              <a:avLst/>
              <a:gdLst/>
              <a:ahLst/>
              <a:cxnLst/>
              <a:rect r="r" b="b" t="t" l="l"/>
              <a:pathLst>
                <a:path h="1123700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123700"/>
                  </a:lnTo>
                  <a:lnTo>
                    <a:pt x="0" y="112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530" r="0" b="-24311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7204157" cy="1142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Overview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31139" y="1868538"/>
            <a:ext cx="16047162" cy="795402"/>
            <a:chOff x="0" y="0"/>
            <a:chExt cx="21396216" cy="10605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96221" cy="1060524"/>
            </a:xfrm>
            <a:custGeom>
              <a:avLst/>
              <a:gdLst/>
              <a:ahLst/>
              <a:cxnLst/>
              <a:rect r="r" b="b" t="t" l="l"/>
              <a:pathLst>
                <a:path h="1060524" w="21396221">
                  <a:moveTo>
                    <a:pt x="0" y="0"/>
                  </a:moveTo>
                  <a:lnTo>
                    <a:pt x="21396221" y="0"/>
                  </a:lnTo>
                  <a:lnTo>
                    <a:pt x="21396221" y="1060524"/>
                  </a:lnTo>
                  <a:lnTo>
                    <a:pt x="0" y="1060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283" r="9327" b="-28060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1396216" cy="1079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system follows the main clinic workflow: departments organize doctors and clinics, patients are registered, and appointments connect patients with doctors.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62397" y="4133478"/>
            <a:ext cx="3790102" cy="1764649"/>
            <a:chOff x="0" y="0"/>
            <a:chExt cx="5053470" cy="235286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053470" cy="2352865"/>
              <a:chOff x="0" y="0"/>
              <a:chExt cx="5053470" cy="235286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053457" cy="2352942"/>
              </a:xfrm>
              <a:custGeom>
                <a:avLst/>
                <a:gdLst/>
                <a:ahLst/>
                <a:cxnLst/>
                <a:rect r="r" b="b" t="t" l="l"/>
                <a:pathLst>
                  <a:path h="2352942" w="5053457">
                    <a:moveTo>
                      <a:pt x="0" y="159550"/>
                    </a:moveTo>
                    <a:cubicBezTo>
                      <a:pt x="0" y="71414"/>
                      <a:pt x="66167" y="0"/>
                      <a:pt x="147828" y="0"/>
                    </a:cubicBezTo>
                    <a:lnTo>
                      <a:pt x="4905629" y="0"/>
                    </a:lnTo>
                    <a:cubicBezTo>
                      <a:pt x="4987290" y="0"/>
                      <a:pt x="5053457" y="71414"/>
                      <a:pt x="5053457" y="159550"/>
                    </a:cubicBezTo>
                    <a:lnTo>
                      <a:pt x="5053457" y="2193398"/>
                    </a:lnTo>
                    <a:cubicBezTo>
                      <a:pt x="5053457" y="2281534"/>
                      <a:pt x="4987290" y="2352942"/>
                      <a:pt x="4905629" y="2352942"/>
                    </a:cubicBezTo>
                    <a:lnTo>
                      <a:pt x="147828" y="2352942"/>
                    </a:lnTo>
                    <a:cubicBezTo>
                      <a:pt x="66167" y="2352811"/>
                      <a:pt x="0" y="2281397"/>
                      <a:pt x="0" y="21933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52" cap="sq">
                <a:solidFill>
                  <a:srgbClr val="E8EEF2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339611" y="386291"/>
              <a:ext cx="4301046" cy="648815"/>
              <a:chOff x="0" y="0"/>
              <a:chExt cx="4301046" cy="64881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301040" cy="648813"/>
              </a:xfrm>
              <a:custGeom>
                <a:avLst/>
                <a:gdLst/>
                <a:ahLst/>
                <a:cxnLst/>
                <a:rect r="r" b="b" t="t" l="l"/>
                <a:pathLst>
                  <a:path h="648813" w="4301040">
                    <a:moveTo>
                      <a:pt x="0" y="0"/>
                    </a:moveTo>
                    <a:lnTo>
                      <a:pt x="4301040" y="0"/>
                    </a:lnTo>
                    <a:lnTo>
                      <a:pt x="4301040" y="648813"/>
                    </a:lnTo>
                    <a:lnTo>
                      <a:pt x="0" y="64881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6727" r="0" b="-61608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4301046" cy="64881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1"/>
                  </a:lnSpc>
                </a:pPr>
                <a:r>
                  <a:rPr lang="en-US" sz="2401" b="true">
                    <a:solidFill>
                      <a:srgbClr val="0F2E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Department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339611" y="1077660"/>
              <a:ext cx="4301046" cy="832138"/>
              <a:chOff x="0" y="0"/>
              <a:chExt cx="4301046" cy="83213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301040" cy="832135"/>
              </a:xfrm>
              <a:custGeom>
                <a:avLst/>
                <a:gdLst/>
                <a:ahLst/>
                <a:cxnLst/>
                <a:rect r="r" b="b" t="t" l="l"/>
                <a:pathLst>
                  <a:path h="832135" w="4301040">
                    <a:moveTo>
                      <a:pt x="0" y="0"/>
                    </a:moveTo>
                    <a:lnTo>
                      <a:pt x="4301040" y="0"/>
                    </a:lnTo>
                    <a:lnTo>
                      <a:pt x="4301040" y="832135"/>
                    </a:lnTo>
                    <a:lnTo>
                      <a:pt x="0" y="83213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8922" r="0" b="-42501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4301046" cy="8321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71"/>
                  </a:lnSpc>
                </a:pPr>
                <a:r>
                  <a:rPr lang="en-US" sz="172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Medical specialties</a:t>
                </a:r>
              </a:p>
              <a:p>
                <a:pPr algn="ctr">
                  <a:lnSpc>
                    <a:spcPts val="2071"/>
                  </a:lnSpc>
                </a:pPr>
                <a:r>
                  <a:rPr lang="en-US" sz="172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organize doctors and clinics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7074535" y="2479182"/>
            <a:ext cx="3790102" cy="1635004"/>
            <a:chOff x="0" y="0"/>
            <a:chExt cx="5053470" cy="218000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053470" cy="2180006"/>
              <a:chOff x="0" y="0"/>
              <a:chExt cx="5053470" cy="218000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053457" cy="2180082"/>
              </a:xfrm>
              <a:custGeom>
                <a:avLst/>
                <a:gdLst/>
                <a:ahLst/>
                <a:cxnLst/>
                <a:rect r="r" b="b" t="t" l="l"/>
                <a:pathLst>
                  <a:path h="2180082" w="5053457">
                    <a:moveTo>
                      <a:pt x="0" y="147828"/>
                    </a:moveTo>
                    <a:cubicBezTo>
                      <a:pt x="0" y="66167"/>
                      <a:pt x="66167" y="0"/>
                      <a:pt x="147828" y="0"/>
                    </a:cubicBezTo>
                    <a:lnTo>
                      <a:pt x="4905629" y="0"/>
                    </a:lnTo>
                    <a:cubicBezTo>
                      <a:pt x="4987290" y="0"/>
                      <a:pt x="5053457" y="66167"/>
                      <a:pt x="5053457" y="147828"/>
                    </a:cubicBezTo>
                    <a:lnTo>
                      <a:pt x="5053457" y="2032254"/>
                    </a:lnTo>
                    <a:cubicBezTo>
                      <a:pt x="5053457" y="2113915"/>
                      <a:pt x="4987290" y="2180082"/>
                      <a:pt x="4905629" y="2180082"/>
                    </a:cubicBezTo>
                    <a:lnTo>
                      <a:pt x="147828" y="2180082"/>
                    </a:lnTo>
                    <a:cubicBezTo>
                      <a:pt x="66167" y="2179955"/>
                      <a:pt x="0" y="2113788"/>
                      <a:pt x="0" y="20322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52" cap="sq">
                <a:solidFill>
                  <a:srgbClr val="E8EEF2"/>
                </a:solidFill>
                <a:prstDash val="solid"/>
                <a:miter/>
              </a:ln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339611" y="357911"/>
              <a:ext cx="4301046" cy="601148"/>
              <a:chOff x="0" y="0"/>
              <a:chExt cx="4301046" cy="60114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301040" cy="601146"/>
              </a:xfrm>
              <a:custGeom>
                <a:avLst/>
                <a:gdLst/>
                <a:ahLst/>
                <a:cxnLst/>
                <a:rect r="r" b="b" t="t" l="l"/>
                <a:pathLst>
                  <a:path h="601146" w="4301040">
                    <a:moveTo>
                      <a:pt x="0" y="0"/>
                    </a:moveTo>
                    <a:lnTo>
                      <a:pt x="4301040" y="0"/>
                    </a:lnTo>
                    <a:lnTo>
                      <a:pt x="4301040" y="601146"/>
                    </a:lnTo>
                    <a:lnTo>
                      <a:pt x="0" y="60114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4397" r="0" b="-74423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4301046" cy="6011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1"/>
                  </a:lnSpc>
                </a:pPr>
                <a:r>
                  <a:rPr lang="en-US" sz="2401" b="true">
                    <a:solidFill>
                      <a:srgbClr val="0F2E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Doctor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339611" y="998499"/>
              <a:ext cx="4301046" cy="771003"/>
              <a:chOff x="0" y="0"/>
              <a:chExt cx="4301046" cy="77100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301040" cy="771000"/>
              </a:xfrm>
              <a:custGeom>
                <a:avLst/>
                <a:gdLst/>
                <a:ahLst/>
                <a:cxnLst/>
                <a:rect r="r" b="b" t="t" l="l"/>
                <a:pathLst>
                  <a:path h="771000" w="4301040">
                    <a:moveTo>
                      <a:pt x="0" y="0"/>
                    </a:moveTo>
                    <a:lnTo>
                      <a:pt x="4301040" y="0"/>
                    </a:lnTo>
                    <a:lnTo>
                      <a:pt x="4301040" y="771000"/>
                    </a:lnTo>
                    <a:lnTo>
                      <a:pt x="0" y="7710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3594" r="0" b="-53800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4301046" cy="77100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71"/>
                  </a:lnSpc>
                </a:pPr>
                <a:r>
                  <a:rPr lang="en-US" sz="172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Doctor belongs to</a:t>
                </a:r>
              </a:p>
              <a:p>
                <a:pPr algn="ctr">
                  <a:lnSpc>
                    <a:spcPts val="2071"/>
                  </a:lnSpc>
                </a:pPr>
                <a:r>
                  <a:rPr lang="en-US" sz="172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one department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7257207" y="5898127"/>
            <a:ext cx="3806495" cy="1642076"/>
            <a:chOff x="0" y="0"/>
            <a:chExt cx="5075326" cy="2189435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5075326" cy="2189435"/>
              <a:chOff x="0" y="0"/>
              <a:chExt cx="5053470" cy="218000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053457" cy="2180082"/>
              </a:xfrm>
              <a:custGeom>
                <a:avLst/>
                <a:gdLst/>
                <a:ahLst/>
                <a:cxnLst/>
                <a:rect r="r" b="b" t="t" l="l"/>
                <a:pathLst>
                  <a:path h="2180082" w="5053457">
                    <a:moveTo>
                      <a:pt x="0" y="147828"/>
                    </a:moveTo>
                    <a:cubicBezTo>
                      <a:pt x="0" y="66167"/>
                      <a:pt x="66167" y="0"/>
                      <a:pt x="147828" y="0"/>
                    </a:cubicBezTo>
                    <a:lnTo>
                      <a:pt x="4905629" y="0"/>
                    </a:lnTo>
                    <a:cubicBezTo>
                      <a:pt x="4987290" y="0"/>
                      <a:pt x="5053457" y="66167"/>
                      <a:pt x="5053457" y="147828"/>
                    </a:cubicBezTo>
                    <a:lnTo>
                      <a:pt x="5053457" y="2032254"/>
                    </a:lnTo>
                    <a:cubicBezTo>
                      <a:pt x="5053457" y="2113915"/>
                      <a:pt x="4987290" y="2180082"/>
                      <a:pt x="4905629" y="2180082"/>
                    </a:cubicBezTo>
                    <a:lnTo>
                      <a:pt x="147828" y="2180082"/>
                    </a:lnTo>
                    <a:cubicBezTo>
                      <a:pt x="66167" y="2179955"/>
                      <a:pt x="0" y="2113788"/>
                      <a:pt x="0" y="20322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52" cap="sq">
                <a:solidFill>
                  <a:srgbClr val="E8EEF2"/>
                </a:solidFill>
                <a:prstDash val="solid"/>
                <a:miter/>
              </a:ln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341080" y="359459"/>
              <a:ext cx="4319648" cy="697092"/>
              <a:chOff x="0" y="0"/>
              <a:chExt cx="4301046" cy="69409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301040" cy="694088"/>
              </a:xfrm>
              <a:custGeom>
                <a:avLst/>
                <a:gdLst/>
                <a:ahLst/>
                <a:cxnLst/>
                <a:rect r="r" b="b" t="t" l="l"/>
                <a:pathLst>
                  <a:path h="694088" w="4301040">
                    <a:moveTo>
                      <a:pt x="0" y="0"/>
                    </a:moveTo>
                    <a:lnTo>
                      <a:pt x="4301040" y="0"/>
                    </a:lnTo>
                    <a:lnTo>
                      <a:pt x="4301040" y="694088"/>
                    </a:lnTo>
                    <a:lnTo>
                      <a:pt x="0" y="6940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418" r="0" b="-51067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0"/>
                <a:ext cx="4301046" cy="6940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61"/>
                  </a:lnSpc>
                </a:pPr>
                <a:r>
                  <a:rPr lang="en-US" sz="2801" b="true">
                    <a:solidFill>
                      <a:srgbClr val="0F2E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Clinic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341080" y="1002805"/>
              <a:ext cx="4319648" cy="968547"/>
              <a:chOff x="0" y="0"/>
              <a:chExt cx="4301046" cy="964376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301040" cy="964373"/>
              </a:xfrm>
              <a:custGeom>
                <a:avLst/>
                <a:gdLst/>
                <a:ahLst/>
                <a:cxnLst/>
                <a:rect r="r" b="b" t="t" l="l"/>
                <a:pathLst>
                  <a:path h="964373" w="4301040">
                    <a:moveTo>
                      <a:pt x="0" y="0"/>
                    </a:moveTo>
                    <a:lnTo>
                      <a:pt x="4301040" y="0"/>
                    </a:lnTo>
                    <a:lnTo>
                      <a:pt x="4301040" y="964373"/>
                    </a:lnTo>
                    <a:lnTo>
                      <a:pt x="0" y="96437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0842" r="0" b="-22961"/>
                </a:stretch>
              </a:blip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9525"/>
                <a:ext cx="4301046" cy="97390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51"/>
                  </a:lnSpc>
                </a:pPr>
                <a:r>
                  <a:rPr lang="en-US" sz="212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Clinic belongs to</a:t>
                </a:r>
              </a:p>
              <a:p>
                <a:pPr algn="ctr">
                  <a:lnSpc>
                    <a:spcPts val="2551"/>
                  </a:lnSpc>
                </a:pPr>
                <a:r>
                  <a:rPr lang="en-US" sz="212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one department</a:t>
                </a: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812330" y="6208454"/>
            <a:ext cx="3790102" cy="1635004"/>
            <a:chOff x="0" y="0"/>
            <a:chExt cx="5053470" cy="2180006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5053470" cy="2180006"/>
              <a:chOff x="0" y="0"/>
              <a:chExt cx="5053470" cy="2180006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053457" cy="2180082"/>
              </a:xfrm>
              <a:custGeom>
                <a:avLst/>
                <a:gdLst/>
                <a:ahLst/>
                <a:cxnLst/>
                <a:rect r="r" b="b" t="t" l="l"/>
                <a:pathLst>
                  <a:path h="2180082" w="5053457">
                    <a:moveTo>
                      <a:pt x="0" y="147828"/>
                    </a:moveTo>
                    <a:cubicBezTo>
                      <a:pt x="0" y="66167"/>
                      <a:pt x="66167" y="0"/>
                      <a:pt x="147828" y="0"/>
                    </a:cubicBezTo>
                    <a:lnTo>
                      <a:pt x="4905629" y="0"/>
                    </a:lnTo>
                    <a:cubicBezTo>
                      <a:pt x="4987290" y="0"/>
                      <a:pt x="5053457" y="66167"/>
                      <a:pt x="5053457" y="147828"/>
                    </a:cubicBezTo>
                    <a:lnTo>
                      <a:pt x="5053457" y="2032254"/>
                    </a:lnTo>
                    <a:cubicBezTo>
                      <a:pt x="5053457" y="2113915"/>
                      <a:pt x="4987290" y="2180082"/>
                      <a:pt x="4905629" y="2180082"/>
                    </a:cubicBezTo>
                    <a:lnTo>
                      <a:pt x="147828" y="2180082"/>
                    </a:lnTo>
                    <a:cubicBezTo>
                      <a:pt x="66167" y="2179955"/>
                      <a:pt x="0" y="2113788"/>
                      <a:pt x="0" y="20322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52" cap="sq">
                <a:solidFill>
                  <a:srgbClr val="E8EEF2"/>
                </a:solidFill>
                <a:prstDash val="solid"/>
                <a:miter/>
              </a:ln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339611" y="357911"/>
              <a:ext cx="4301046" cy="601148"/>
              <a:chOff x="0" y="0"/>
              <a:chExt cx="4301046" cy="60114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301040" cy="601146"/>
              </a:xfrm>
              <a:custGeom>
                <a:avLst/>
                <a:gdLst/>
                <a:ahLst/>
                <a:cxnLst/>
                <a:rect r="r" b="b" t="t" l="l"/>
                <a:pathLst>
                  <a:path h="601146" w="4301040">
                    <a:moveTo>
                      <a:pt x="0" y="0"/>
                    </a:moveTo>
                    <a:lnTo>
                      <a:pt x="4301040" y="0"/>
                    </a:lnTo>
                    <a:lnTo>
                      <a:pt x="4301040" y="601146"/>
                    </a:lnTo>
                    <a:lnTo>
                      <a:pt x="0" y="60114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4397" r="0" b="-74423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4301046" cy="6011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1"/>
                  </a:lnSpc>
                </a:pPr>
                <a:r>
                  <a:rPr lang="en-US" sz="2401" b="true">
                    <a:solidFill>
                      <a:srgbClr val="0F2E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Patient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339611" y="998487"/>
              <a:ext cx="4301046" cy="771003"/>
              <a:chOff x="0" y="0"/>
              <a:chExt cx="4301046" cy="771003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4301040" cy="771000"/>
              </a:xfrm>
              <a:custGeom>
                <a:avLst/>
                <a:gdLst/>
                <a:ahLst/>
                <a:cxnLst/>
                <a:rect r="r" b="b" t="t" l="l"/>
                <a:pathLst>
                  <a:path h="771000" w="4301040">
                    <a:moveTo>
                      <a:pt x="0" y="0"/>
                    </a:moveTo>
                    <a:lnTo>
                      <a:pt x="4301040" y="0"/>
                    </a:lnTo>
                    <a:lnTo>
                      <a:pt x="4301040" y="771000"/>
                    </a:lnTo>
                    <a:lnTo>
                      <a:pt x="0" y="7710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3594" r="0" b="-53800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0"/>
                <a:ext cx="4301046" cy="77100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71"/>
                  </a:lnSpc>
                </a:pPr>
                <a:r>
                  <a:rPr lang="en-US" sz="172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Patient is registered</a:t>
                </a:r>
              </a:p>
              <a:p>
                <a:pPr algn="ctr">
                  <a:lnSpc>
                    <a:spcPts val="2071"/>
                  </a:lnSpc>
                </a:pPr>
                <a:r>
                  <a:rPr lang="en-US" sz="172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independently</a:t>
                </a: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658133" y="2820849"/>
            <a:ext cx="3944299" cy="1635004"/>
            <a:chOff x="0" y="0"/>
            <a:chExt cx="5259065" cy="2180006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5259065" cy="2180006"/>
              <a:chOff x="0" y="0"/>
              <a:chExt cx="5259065" cy="2180006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5259052" cy="2180082"/>
              </a:xfrm>
              <a:custGeom>
                <a:avLst/>
                <a:gdLst/>
                <a:ahLst/>
                <a:cxnLst/>
                <a:rect r="r" b="b" t="t" l="l"/>
                <a:pathLst>
                  <a:path h="2180082" w="5259052">
                    <a:moveTo>
                      <a:pt x="0" y="147828"/>
                    </a:moveTo>
                    <a:cubicBezTo>
                      <a:pt x="0" y="66167"/>
                      <a:pt x="68859" y="0"/>
                      <a:pt x="153842" y="0"/>
                    </a:cubicBezTo>
                    <a:lnTo>
                      <a:pt x="5105210" y="0"/>
                    </a:lnTo>
                    <a:cubicBezTo>
                      <a:pt x="5190193" y="0"/>
                      <a:pt x="5259052" y="66167"/>
                      <a:pt x="5259052" y="147828"/>
                    </a:cubicBezTo>
                    <a:lnTo>
                      <a:pt x="5259052" y="2032254"/>
                    </a:lnTo>
                    <a:cubicBezTo>
                      <a:pt x="5259052" y="2113915"/>
                      <a:pt x="5190193" y="2180082"/>
                      <a:pt x="5105210" y="2180082"/>
                    </a:cubicBezTo>
                    <a:lnTo>
                      <a:pt x="153842" y="2180082"/>
                    </a:lnTo>
                    <a:cubicBezTo>
                      <a:pt x="68859" y="2179955"/>
                      <a:pt x="0" y="2113788"/>
                      <a:pt x="0" y="2032254"/>
                    </a:cubicBezTo>
                    <a:close/>
                  </a:path>
                </a:pathLst>
              </a:custGeom>
              <a:solidFill>
                <a:srgbClr val="E8F7F7"/>
              </a:solidFill>
              <a:ln w="15252" cap="sq">
                <a:solidFill>
                  <a:srgbClr val="008C8C"/>
                </a:solidFill>
                <a:prstDash val="solid"/>
                <a:miter/>
              </a:ln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353427" y="357911"/>
              <a:ext cx="4476029" cy="601148"/>
              <a:chOff x="0" y="0"/>
              <a:chExt cx="4476029" cy="601148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4476024" cy="601146"/>
              </a:xfrm>
              <a:custGeom>
                <a:avLst/>
                <a:gdLst/>
                <a:ahLst/>
                <a:cxnLst/>
                <a:rect r="r" b="b" t="t" l="l"/>
                <a:pathLst>
                  <a:path h="601146" w="4476024">
                    <a:moveTo>
                      <a:pt x="0" y="0"/>
                    </a:moveTo>
                    <a:lnTo>
                      <a:pt x="4476024" y="0"/>
                    </a:lnTo>
                    <a:lnTo>
                      <a:pt x="4476024" y="601146"/>
                    </a:lnTo>
                    <a:lnTo>
                      <a:pt x="0" y="60114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4397" r="3909" b="-74423"/>
                </a:stretch>
              </a:blip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0"/>
                <a:ext cx="4476029" cy="6011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1"/>
                  </a:lnSpc>
                </a:pPr>
                <a:r>
                  <a:rPr lang="en-US" sz="2401" b="true">
                    <a:solidFill>
                      <a:srgbClr val="008C8C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Appointment</a:t>
                </a: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353427" y="998499"/>
              <a:ext cx="4476029" cy="1113903"/>
              <a:chOff x="0" y="0"/>
              <a:chExt cx="4476029" cy="1113903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4476024" cy="1113899"/>
              </a:xfrm>
              <a:custGeom>
                <a:avLst/>
                <a:gdLst/>
                <a:ahLst/>
                <a:cxnLst/>
                <a:rect r="r" b="b" t="t" l="l"/>
                <a:pathLst>
                  <a:path h="1113899" w="4476024">
                    <a:moveTo>
                      <a:pt x="0" y="0"/>
                    </a:moveTo>
                    <a:lnTo>
                      <a:pt x="4476024" y="0"/>
                    </a:lnTo>
                    <a:lnTo>
                      <a:pt x="4476024" y="1113899"/>
                    </a:lnTo>
                    <a:lnTo>
                      <a:pt x="0" y="111389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4017" r="3909" b="-6455"/>
                </a:stretch>
              </a:blip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0"/>
                <a:ext cx="4476029" cy="111390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71"/>
                  </a:lnSpc>
                </a:pPr>
                <a:r>
                  <a:rPr lang="en-US" sz="172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Links patient + doctor</a:t>
                </a:r>
              </a:p>
              <a:p>
                <a:pPr algn="ctr">
                  <a:lnSpc>
                    <a:spcPts val="2071"/>
                  </a:lnSpc>
                </a:pPr>
                <a:r>
                  <a:rPr lang="en-US" sz="172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with date, time, cost, status, diagnosis</a:t>
                </a: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1021880" y="8338223"/>
            <a:ext cx="13741975" cy="1003573"/>
            <a:chOff x="0" y="0"/>
            <a:chExt cx="18322633" cy="133809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322671" cy="1338199"/>
            </a:xfrm>
            <a:custGeom>
              <a:avLst/>
              <a:gdLst/>
              <a:ahLst/>
              <a:cxnLst/>
              <a:rect r="r" b="b" t="t" l="l"/>
              <a:pathLst>
                <a:path h="1338199" w="18322671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18173954" y="0"/>
                  </a:lnTo>
                  <a:cubicBezTo>
                    <a:pt x="18256123" y="0"/>
                    <a:pt x="18322671" y="66548"/>
                    <a:pt x="18322671" y="148717"/>
                  </a:cubicBezTo>
                  <a:lnTo>
                    <a:pt x="18322671" y="1189482"/>
                  </a:lnTo>
                  <a:cubicBezTo>
                    <a:pt x="18322671" y="1271651"/>
                    <a:pt x="18256123" y="1338199"/>
                    <a:pt x="18173954" y="1338199"/>
                  </a:cubicBezTo>
                  <a:lnTo>
                    <a:pt x="148717" y="1338199"/>
                  </a:lnTo>
                  <a:cubicBezTo>
                    <a:pt x="66548" y="1338072"/>
                    <a:pt x="0" y="1271524"/>
                    <a:pt x="0" y="1189482"/>
                  </a:cubicBezTo>
                  <a:close/>
                </a:path>
              </a:pathLst>
            </a:custGeom>
            <a:solidFill>
              <a:srgbClr val="F5F7FA"/>
            </a:solidFill>
            <a:ln w="15252" cap="sq">
              <a:solidFill>
                <a:srgbClr val="F5F7FA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362792" y="8572708"/>
            <a:ext cx="13091453" cy="948583"/>
            <a:chOff x="0" y="0"/>
            <a:chExt cx="17455270" cy="126477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455274" cy="1264769"/>
            </a:xfrm>
            <a:custGeom>
              <a:avLst/>
              <a:gdLst/>
              <a:ahLst/>
              <a:cxnLst/>
              <a:rect r="r" b="b" t="t" l="l"/>
              <a:pathLst>
                <a:path h="1264769" w="17455274">
                  <a:moveTo>
                    <a:pt x="0" y="0"/>
                  </a:moveTo>
                  <a:lnTo>
                    <a:pt x="17455274" y="0"/>
                  </a:lnTo>
                  <a:lnTo>
                    <a:pt x="17455274" y="1264769"/>
                  </a:lnTo>
                  <a:lnTo>
                    <a:pt x="0" y="12647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129" r="1438" b="-18096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7455270" cy="1283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Reports are generated through views for appointment summaries, patient history, doctor schedules, revenue summaries, and postponed follow-up.</a:t>
              </a:r>
            </a:p>
            <a:p>
              <a:pPr algn="ctr">
                <a:lnSpc>
                  <a:spcPts val="2251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6952500" y="9581255"/>
            <a:ext cx="686333" cy="265782"/>
            <a:chOff x="0" y="0"/>
            <a:chExt cx="915111" cy="35437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5115" cy="354379"/>
            </a:xfrm>
            <a:custGeom>
              <a:avLst/>
              <a:gdLst/>
              <a:ahLst/>
              <a:cxnLst/>
              <a:rect r="r" b="b" t="t" l="l"/>
              <a:pathLst>
                <a:path h="35437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54379"/>
                  </a:lnTo>
                  <a:lnTo>
                    <a:pt x="0" y="3543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5" r="0" b="320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915111" cy="373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sp>
        <p:nvSpPr>
          <p:cNvPr name="AutoShape 75" id="75"/>
          <p:cNvSpPr/>
          <p:nvPr/>
        </p:nvSpPr>
        <p:spPr>
          <a:xfrm flipV="true">
            <a:off x="4602432" y="3619060"/>
            <a:ext cx="2472103" cy="192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2630283" y="4455854"/>
            <a:ext cx="77098" cy="17526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10864637" y="3296684"/>
            <a:ext cx="4192811" cy="8367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flipV="true">
            <a:off x="11063702" y="5898127"/>
            <a:ext cx="3993747" cy="8210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2117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4805793" y="-1734903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315715"/>
            <a:chOff x="0" y="0"/>
            <a:chExt cx="9883242" cy="4209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420952"/>
            </a:xfrm>
            <a:custGeom>
              <a:avLst/>
              <a:gdLst/>
              <a:ahLst/>
              <a:cxnLst/>
              <a:rect r="r" b="b" t="t" l="l"/>
              <a:pathLst>
                <a:path h="420952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420952"/>
                  </a:lnTo>
                  <a:lnTo>
                    <a:pt x="0" y="42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475" r="0" b="-4074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83242" cy="4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Entities &amp; Schema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12903117" cy="780547"/>
            <a:chOff x="0" y="0"/>
            <a:chExt cx="17204157" cy="1040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04161" cy="1040729"/>
            </a:xfrm>
            <a:custGeom>
              <a:avLst/>
              <a:gdLst/>
              <a:ahLst/>
              <a:cxnLst/>
              <a:rect r="r" b="b" t="t" l="l"/>
              <a:pathLst>
                <a:path h="1040729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040729"/>
                  </a:lnTo>
                  <a:lnTo>
                    <a:pt x="0" y="1040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43" r="0" b="-2704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7204157" cy="106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Database Design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84615" y="2353370"/>
            <a:ext cx="5986377" cy="6604083"/>
            <a:chOff x="0" y="0"/>
            <a:chExt cx="7981836" cy="88054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81823" cy="8805418"/>
            </a:xfrm>
            <a:custGeom>
              <a:avLst/>
              <a:gdLst/>
              <a:ahLst/>
              <a:cxnLst/>
              <a:rect r="r" b="b" t="t" l="l"/>
              <a:pathLst>
                <a:path h="8805418" w="7981823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7835011" y="0"/>
                  </a:lnTo>
                  <a:cubicBezTo>
                    <a:pt x="7916037" y="0"/>
                    <a:pt x="7981823" y="65659"/>
                    <a:pt x="7981823" y="146812"/>
                  </a:cubicBezTo>
                  <a:lnTo>
                    <a:pt x="7981823" y="8658606"/>
                  </a:lnTo>
                  <a:cubicBezTo>
                    <a:pt x="7981823" y="8739632"/>
                    <a:pt x="7916164" y="8805418"/>
                    <a:pt x="7835011" y="8805418"/>
                  </a:cubicBezTo>
                  <a:lnTo>
                    <a:pt x="146812" y="8805418"/>
                  </a:lnTo>
                  <a:cubicBezTo>
                    <a:pt x="65659" y="8805418"/>
                    <a:pt x="0" y="8739759"/>
                    <a:pt x="0" y="865860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72676" y="2772794"/>
            <a:ext cx="4667088" cy="567457"/>
            <a:chOff x="0" y="0"/>
            <a:chExt cx="6222784" cy="7566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22781" cy="756601"/>
            </a:xfrm>
            <a:custGeom>
              <a:avLst/>
              <a:gdLst/>
              <a:ahLst/>
              <a:cxnLst/>
              <a:rect r="r" b="b" t="t" l="l"/>
              <a:pathLst>
                <a:path h="756601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756601"/>
                  </a:lnTo>
                  <a:lnTo>
                    <a:pt x="0" y="756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91" r="0" b="-9412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222784" cy="775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Operational tables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31769" y="3586867"/>
            <a:ext cx="4274353" cy="595589"/>
            <a:chOff x="0" y="0"/>
            <a:chExt cx="5699138" cy="7941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99125" cy="794004"/>
            </a:xfrm>
            <a:custGeom>
              <a:avLst/>
              <a:gdLst/>
              <a:ahLst/>
              <a:cxnLst/>
              <a:rect r="r" b="b" t="t" l="l"/>
              <a:pathLst>
                <a:path h="794004" w="5699125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5604637" y="0"/>
                  </a:lnTo>
                  <a:cubicBezTo>
                    <a:pt x="5656834" y="0"/>
                    <a:pt x="5699125" y="42291"/>
                    <a:pt x="5699125" y="94488"/>
                  </a:cubicBezTo>
                  <a:lnTo>
                    <a:pt x="5699125" y="699516"/>
                  </a:lnTo>
                  <a:cubicBezTo>
                    <a:pt x="5699125" y="751713"/>
                    <a:pt x="5656834" y="794004"/>
                    <a:pt x="5604637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F5F7FA"/>
            </a:solidFill>
            <a:ln w="19065" cap="sq">
              <a:solidFill>
                <a:srgbClr val="F5F7F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647206" y="3747392"/>
            <a:ext cx="3843480" cy="377083"/>
            <a:chOff x="0" y="0"/>
            <a:chExt cx="5124640" cy="5027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4644" cy="502778"/>
            </a:xfrm>
            <a:custGeom>
              <a:avLst/>
              <a:gdLst/>
              <a:ahLst/>
              <a:cxnLst/>
              <a:rect r="r" b="b" t="t" l="l"/>
              <a:pathLst>
                <a:path h="502778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502778"/>
                  </a:lnTo>
                  <a:lnTo>
                    <a:pt x="0" y="502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482" r="0" b="-12772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124640" cy="521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31769" y="4383014"/>
            <a:ext cx="4274353" cy="595589"/>
            <a:chOff x="0" y="0"/>
            <a:chExt cx="5699138" cy="7941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99125" cy="794004"/>
            </a:xfrm>
            <a:custGeom>
              <a:avLst/>
              <a:gdLst/>
              <a:ahLst/>
              <a:cxnLst/>
              <a:rect r="r" b="b" t="t" l="l"/>
              <a:pathLst>
                <a:path h="794004" w="5699125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5604637" y="0"/>
                  </a:lnTo>
                  <a:cubicBezTo>
                    <a:pt x="5656834" y="0"/>
                    <a:pt x="5699125" y="42291"/>
                    <a:pt x="5699125" y="94488"/>
                  </a:cubicBezTo>
                  <a:lnTo>
                    <a:pt x="5699125" y="699516"/>
                  </a:lnTo>
                  <a:cubicBezTo>
                    <a:pt x="5699125" y="751713"/>
                    <a:pt x="5656834" y="794004"/>
                    <a:pt x="5604637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F5F7FA"/>
            </a:solidFill>
            <a:ln w="19065" cap="sq">
              <a:solidFill>
                <a:srgbClr val="F5F7F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647206" y="4543549"/>
            <a:ext cx="3843480" cy="377083"/>
            <a:chOff x="0" y="0"/>
            <a:chExt cx="5124640" cy="5027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4644" cy="502778"/>
            </a:xfrm>
            <a:custGeom>
              <a:avLst/>
              <a:gdLst/>
              <a:ahLst/>
              <a:cxnLst/>
              <a:rect r="r" b="b" t="t" l="l"/>
              <a:pathLst>
                <a:path h="502778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502778"/>
                  </a:lnTo>
                  <a:lnTo>
                    <a:pt x="0" y="502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482" r="0" b="-12772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124640" cy="521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Clinic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31769" y="5179171"/>
            <a:ext cx="4274353" cy="595589"/>
            <a:chOff x="0" y="0"/>
            <a:chExt cx="5699138" cy="79411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99125" cy="794004"/>
            </a:xfrm>
            <a:custGeom>
              <a:avLst/>
              <a:gdLst/>
              <a:ahLst/>
              <a:cxnLst/>
              <a:rect r="r" b="b" t="t" l="l"/>
              <a:pathLst>
                <a:path h="794004" w="5699125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5604637" y="0"/>
                  </a:lnTo>
                  <a:cubicBezTo>
                    <a:pt x="5656834" y="0"/>
                    <a:pt x="5699125" y="42291"/>
                    <a:pt x="5699125" y="94488"/>
                  </a:cubicBezTo>
                  <a:lnTo>
                    <a:pt x="5699125" y="699516"/>
                  </a:lnTo>
                  <a:cubicBezTo>
                    <a:pt x="5699125" y="751713"/>
                    <a:pt x="5656834" y="794004"/>
                    <a:pt x="5604637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F5F7FA"/>
            </a:solidFill>
            <a:ln w="19065" cap="sq">
              <a:solidFill>
                <a:srgbClr val="F5F7F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647206" y="5339696"/>
            <a:ext cx="3843480" cy="377083"/>
            <a:chOff x="0" y="0"/>
            <a:chExt cx="5124640" cy="50277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4644" cy="502778"/>
            </a:xfrm>
            <a:custGeom>
              <a:avLst/>
              <a:gdLst/>
              <a:ahLst/>
              <a:cxnLst/>
              <a:rect r="r" b="b" t="t" l="l"/>
              <a:pathLst>
                <a:path h="502778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502778"/>
                  </a:lnTo>
                  <a:lnTo>
                    <a:pt x="0" y="502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482" r="0" b="-1277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124640" cy="521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Doctor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31769" y="5975318"/>
            <a:ext cx="4274353" cy="595589"/>
            <a:chOff x="0" y="0"/>
            <a:chExt cx="5699138" cy="79411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99125" cy="794004"/>
            </a:xfrm>
            <a:custGeom>
              <a:avLst/>
              <a:gdLst/>
              <a:ahLst/>
              <a:cxnLst/>
              <a:rect r="r" b="b" t="t" l="l"/>
              <a:pathLst>
                <a:path h="794004" w="5699125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5604637" y="0"/>
                  </a:lnTo>
                  <a:cubicBezTo>
                    <a:pt x="5656834" y="0"/>
                    <a:pt x="5699125" y="42291"/>
                    <a:pt x="5699125" y="94488"/>
                  </a:cubicBezTo>
                  <a:lnTo>
                    <a:pt x="5699125" y="699516"/>
                  </a:lnTo>
                  <a:cubicBezTo>
                    <a:pt x="5699125" y="751713"/>
                    <a:pt x="5656834" y="794004"/>
                    <a:pt x="5604637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F5F7FA"/>
            </a:solidFill>
            <a:ln w="19065" cap="sq">
              <a:solidFill>
                <a:srgbClr val="F5F7F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6135843"/>
            <a:ext cx="3843480" cy="377083"/>
            <a:chOff x="0" y="0"/>
            <a:chExt cx="5124640" cy="50277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4644" cy="502778"/>
            </a:xfrm>
            <a:custGeom>
              <a:avLst/>
              <a:gdLst/>
              <a:ahLst/>
              <a:cxnLst/>
              <a:rect r="r" b="b" t="t" l="l"/>
              <a:pathLst>
                <a:path h="502778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502778"/>
                  </a:lnTo>
                  <a:lnTo>
                    <a:pt x="0" y="502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482" r="0" b="-1277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124640" cy="521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Patient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31769" y="6771465"/>
            <a:ext cx="4274353" cy="595589"/>
            <a:chOff x="0" y="0"/>
            <a:chExt cx="5699138" cy="79411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99125" cy="794004"/>
            </a:xfrm>
            <a:custGeom>
              <a:avLst/>
              <a:gdLst/>
              <a:ahLst/>
              <a:cxnLst/>
              <a:rect r="r" b="b" t="t" l="l"/>
              <a:pathLst>
                <a:path h="794004" w="5699125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5604637" y="0"/>
                  </a:lnTo>
                  <a:cubicBezTo>
                    <a:pt x="5656834" y="0"/>
                    <a:pt x="5699125" y="42291"/>
                    <a:pt x="5699125" y="94488"/>
                  </a:cubicBezTo>
                  <a:lnTo>
                    <a:pt x="5699125" y="699516"/>
                  </a:lnTo>
                  <a:cubicBezTo>
                    <a:pt x="5699125" y="751713"/>
                    <a:pt x="5656834" y="794004"/>
                    <a:pt x="5604637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647206" y="6932000"/>
            <a:ext cx="3843480" cy="377083"/>
            <a:chOff x="0" y="0"/>
            <a:chExt cx="5124640" cy="50277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4644" cy="502778"/>
            </a:xfrm>
            <a:custGeom>
              <a:avLst/>
              <a:gdLst/>
              <a:ahLst/>
              <a:cxnLst/>
              <a:rect r="r" b="b" t="t" l="l"/>
              <a:pathLst>
                <a:path h="502778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502778"/>
                  </a:lnTo>
                  <a:lnTo>
                    <a:pt x="0" y="502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482" r="0" b="-12772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124640" cy="521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Appointment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31769" y="7787249"/>
            <a:ext cx="4274353" cy="19069"/>
            <a:chOff x="0" y="0"/>
            <a:chExt cx="5699138" cy="2542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699125" cy="25400"/>
            </a:xfrm>
            <a:custGeom>
              <a:avLst/>
              <a:gdLst/>
              <a:ahLst/>
              <a:cxnLst/>
              <a:rect r="r" b="b" t="t" l="l"/>
              <a:pathLst>
                <a:path h="25400" w="5699125">
                  <a:moveTo>
                    <a:pt x="0" y="0"/>
                  </a:moveTo>
                  <a:lnTo>
                    <a:pt x="5699125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321915" r="0" b="-4322015"/>
              </a:stretch>
            </a:blipFill>
            <a:ln w="19065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431769" y="8192186"/>
            <a:ext cx="135741" cy="135741"/>
            <a:chOff x="0" y="0"/>
            <a:chExt cx="180988" cy="1809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1102" cy="181102"/>
            </a:xfrm>
            <a:custGeom>
              <a:avLst/>
              <a:gdLst/>
              <a:ahLst/>
              <a:cxnLst/>
              <a:rect r="r" b="b" t="t" l="l"/>
              <a:pathLst>
                <a:path h="181102" w="181102">
                  <a:moveTo>
                    <a:pt x="0" y="90551"/>
                  </a:moveTo>
                  <a:cubicBezTo>
                    <a:pt x="0" y="40513"/>
                    <a:pt x="40513" y="0"/>
                    <a:pt x="90551" y="0"/>
                  </a:cubicBezTo>
                  <a:cubicBezTo>
                    <a:pt x="140589" y="0"/>
                    <a:pt x="181102" y="40513"/>
                    <a:pt x="181102" y="90551"/>
                  </a:cubicBezTo>
                  <a:cubicBezTo>
                    <a:pt x="181102" y="140589"/>
                    <a:pt x="140589" y="181102"/>
                    <a:pt x="90551" y="181102"/>
                  </a:cubicBezTo>
                  <a:cubicBezTo>
                    <a:pt x="40513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660931" y="8098765"/>
            <a:ext cx="4392549" cy="599106"/>
            <a:chOff x="0" y="0"/>
            <a:chExt cx="5856732" cy="7988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6736" cy="798799"/>
            </a:xfrm>
            <a:custGeom>
              <a:avLst/>
              <a:gdLst/>
              <a:ahLst/>
              <a:cxnLst/>
              <a:rect r="r" b="b" t="t" l="l"/>
              <a:pathLst>
                <a:path h="798799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798799"/>
                  </a:lnTo>
                  <a:lnTo>
                    <a:pt x="0" y="7987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85" r="0" b="-749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856732" cy="817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9"/>
                </a:lnSpc>
              </a:pPr>
              <a:r>
                <a:rPr lang="en-US" sz="174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Appointment_Audit records postponed appointment events.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198900" y="2353370"/>
            <a:ext cx="10035759" cy="6604083"/>
            <a:chOff x="0" y="0"/>
            <a:chExt cx="13381012" cy="880544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381101" cy="8805418"/>
            </a:xfrm>
            <a:custGeom>
              <a:avLst/>
              <a:gdLst/>
              <a:ahLst/>
              <a:cxnLst/>
              <a:rect r="r" b="b" t="t" l="l"/>
              <a:pathLst>
                <a:path h="8805418" w="13381101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3234288" y="0"/>
                  </a:lnTo>
                  <a:cubicBezTo>
                    <a:pt x="13315314" y="0"/>
                    <a:pt x="13381101" y="65659"/>
                    <a:pt x="13381101" y="146812"/>
                  </a:cubicBezTo>
                  <a:lnTo>
                    <a:pt x="13381101" y="8658606"/>
                  </a:lnTo>
                  <a:cubicBezTo>
                    <a:pt x="13381101" y="8739632"/>
                    <a:pt x="13315442" y="8805418"/>
                    <a:pt x="13234288" y="8805418"/>
                  </a:cubicBezTo>
                  <a:lnTo>
                    <a:pt x="146812" y="8805418"/>
                  </a:lnTo>
                  <a:cubicBezTo>
                    <a:pt x="65659" y="8805418"/>
                    <a:pt x="0" y="8739759"/>
                    <a:pt x="0" y="8658606"/>
                  </a:cubicBezTo>
                  <a:close/>
                </a:path>
              </a:pathLst>
            </a:custGeom>
            <a:solidFill>
              <a:srgbClr val="EAF4FF"/>
            </a:solidFill>
            <a:ln w="15252" cap="sq">
              <a:solidFill>
                <a:srgbClr val="EAF4F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714421" y="2800255"/>
            <a:ext cx="7137892" cy="567457"/>
            <a:chOff x="0" y="0"/>
            <a:chExt cx="9517190" cy="7566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17195" cy="756601"/>
            </a:xfrm>
            <a:custGeom>
              <a:avLst/>
              <a:gdLst/>
              <a:ahLst/>
              <a:cxnLst/>
              <a:rect r="r" b="b" t="t" l="l"/>
              <a:pathLst>
                <a:path h="756601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756601"/>
                  </a:lnTo>
                  <a:lnTo>
                    <a:pt x="0" y="756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233" r="0" b="-17896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9517190" cy="775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Important reporting fields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747968" y="3629958"/>
            <a:ext cx="4201906" cy="2025453"/>
            <a:chOff x="0" y="0"/>
            <a:chExt cx="5602542" cy="270060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602478" cy="2700575"/>
            </a:xfrm>
            <a:custGeom>
              <a:avLst/>
              <a:gdLst/>
              <a:ahLst/>
              <a:cxnLst/>
              <a:rect r="r" b="b" t="t" l="l"/>
              <a:pathLst>
                <a:path h="2700575" w="5602478">
                  <a:moveTo>
                    <a:pt x="0" y="172817"/>
                  </a:moveTo>
                  <a:cubicBezTo>
                    <a:pt x="0" y="77418"/>
                    <a:pt x="66167" y="0"/>
                    <a:pt x="147701" y="0"/>
                  </a:cubicBezTo>
                  <a:lnTo>
                    <a:pt x="5454777" y="0"/>
                  </a:lnTo>
                  <a:cubicBezTo>
                    <a:pt x="5536311" y="0"/>
                    <a:pt x="5602478" y="77418"/>
                    <a:pt x="5602478" y="172817"/>
                  </a:cubicBezTo>
                  <a:lnTo>
                    <a:pt x="5602478" y="2527758"/>
                  </a:lnTo>
                  <a:cubicBezTo>
                    <a:pt x="5602478" y="2623156"/>
                    <a:pt x="5536311" y="2700575"/>
                    <a:pt x="5454777" y="2700575"/>
                  </a:cubicBezTo>
                  <a:lnTo>
                    <a:pt x="147701" y="2700575"/>
                  </a:lnTo>
                  <a:cubicBezTo>
                    <a:pt x="66167" y="2700575"/>
                    <a:pt x="0" y="2623156"/>
                    <a:pt x="0" y="25277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993151" y="3875132"/>
            <a:ext cx="595589" cy="595589"/>
            <a:chOff x="0" y="0"/>
            <a:chExt cx="794118" cy="79411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8043862" y="4021931"/>
            <a:ext cx="494167" cy="328022"/>
            <a:chOff x="0" y="0"/>
            <a:chExt cx="658889" cy="43736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fx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716470" y="3870931"/>
            <a:ext cx="2978696" cy="452502"/>
            <a:chOff x="0" y="0"/>
            <a:chExt cx="3971595" cy="6033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71599" cy="603340"/>
            </a:xfrm>
            <a:custGeom>
              <a:avLst/>
              <a:gdLst/>
              <a:ahLst/>
              <a:cxnLst/>
              <a:rect r="r" b="b" t="t" l="l"/>
              <a:pathLst>
                <a:path h="603340" w="3971599">
                  <a:moveTo>
                    <a:pt x="0" y="0"/>
                  </a:moveTo>
                  <a:lnTo>
                    <a:pt x="3971599" y="0"/>
                  </a:lnTo>
                  <a:lnTo>
                    <a:pt x="3971599" y="603340"/>
                  </a:lnTo>
                  <a:lnTo>
                    <a:pt x="0" y="603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28" r="0" b="-6769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3971595" cy="622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age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8043862" y="4551564"/>
            <a:ext cx="369223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</a:t>
            </a: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alculated from birth_date during reporting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2277792" y="3629958"/>
            <a:ext cx="4201906" cy="2025453"/>
            <a:chOff x="0" y="0"/>
            <a:chExt cx="5602542" cy="270060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602478" cy="2700575"/>
            </a:xfrm>
            <a:custGeom>
              <a:avLst/>
              <a:gdLst/>
              <a:ahLst/>
              <a:cxnLst/>
              <a:rect r="r" b="b" t="t" l="l"/>
              <a:pathLst>
                <a:path h="2700575" w="5602478">
                  <a:moveTo>
                    <a:pt x="0" y="172817"/>
                  </a:moveTo>
                  <a:cubicBezTo>
                    <a:pt x="0" y="77418"/>
                    <a:pt x="66167" y="0"/>
                    <a:pt x="147701" y="0"/>
                  </a:cubicBezTo>
                  <a:lnTo>
                    <a:pt x="5454777" y="0"/>
                  </a:lnTo>
                  <a:cubicBezTo>
                    <a:pt x="5536311" y="0"/>
                    <a:pt x="5602478" y="77418"/>
                    <a:pt x="5602478" y="172817"/>
                  </a:cubicBezTo>
                  <a:lnTo>
                    <a:pt x="5602478" y="2527758"/>
                  </a:lnTo>
                  <a:cubicBezTo>
                    <a:pt x="5602478" y="2623156"/>
                    <a:pt x="5536311" y="2700575"/>
                    <a:pt x="5454777" y="2700575"/>
                  </a:cubicBezTo>
                  <a:lnTo>
                    <a:pt x="147701" y="2700575"/>
                  </a:lnTo>
                  <a:cubicBezTo>
                    <a:pt x="66167" y="2700575"/>
                    <a:pt x="0" y="2623156"/>
                    <a:pt x="0" y="25277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522965" y="3875132"/>
            <a:ext cx="595589" cy="595589"/>
            <a:chOff x="0" y="0"/>
            <a:chExt cx="794118" cy="79411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2573676" y="4021931"/>
            <a:ext cx="494167" cy="328022"/>
            <a:chOff x="0" y="0"/>
            <a:chExt cx="658889" cy="43736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fx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246284" y="3870931"/>
            <a:ext cx="2978696" cy="452502"/>
            <a:chOff x="0" y="0"/>
            <a:chExt cx="3971595" cy="60333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971599" cy="603340"/>
            </a:xfrm>
            <a:custGeom>
              <a:avLst/>
              <a:gdLst/>
              <a:ahLst/>
              <a:cxnLst/>
              <a:rect r="r" b="b" t="t" l="l"/>
              <a:pathLst>
                <a:path h="603340" w="3971599">
                  <a:moveTo>
                    <a:pt x="0" y="0"/>
                  </a:moveTo>
                  <a:lnTo>
                    <a:pt x="3971599" y="0"/>
                  </a:lnTo>
                  <a:lnTo>
                    <a:pt x="3971599" y="603340"/>
                  </a:lnTo>
                  <a:lnTo>
                    <a:pt x="0" y="603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28" r="0" b="-6769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3971595" cy="622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duration_min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2573676" y="4589285"/>
            <a:ext cx="369223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alculated from start_time and end_time in views/queries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7442492" y="6273113"/>
            <a:ext cx="7275166" cy="429798"/>
            <a:chOff x="0" y="0"/>
            <a:chExt cx="9700222" cy="57306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700218" cy="573060"/>
            </a:xfrm>
            <a:custGeom>
              <a:avLst/>
              <a:gdLst/>
              <a:ahLst/>
              <a:cxnLst/>
              <a:rect r="r" b="b" t="t" l="l"/>
              <a:pathLst>
                <a:path h="573060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573060"/>
                  </a:lnTo>
                  <a:lnTo>
                    <a:pt x="0" y="5730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692" r="0" b="-26495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9700222" cy="592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1"/>
                </a:lnSpc>
              </a:pPr>
              <a:r>
                <a:rPr lang="en-US" sz="2176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Relational schema summary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442492" y="6602190"/>
            <a:ext cx="9705182" cy="1589996"/>
            <a:chOff x="0" y="0"/>
            <a:chExt cx="12940242" cy="211999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940247" cy="2119995"/>
            </a:xfrm>
            <a:custGeom>
              <a:avLst/>
              <a:gdLst/>
              <a:ahLst/>
              <a:cxnLst/>
              <a:rect r="r" b="b" t="t" l="l"/>
              <a:pathLst>
                <a:path h="2119995" w="12940247">
                  <a:moveTo>
                    <a:pt x="0" y="0"/>
                  </a:moveTo>
                  <a:lnTo>
                    <a:pt x="12940247" y="0"/>
                  </a:lnTo>
                  <a:lnTo>
                    <a:pt x="12940247" y="2119995"/>
                  </a:lnTo>
                  <a:lnTo>
                    <a:pt x="0" y="2119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97" r="10894" b="-3705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12940242" cy="2139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Department(dept_id, dept_name)  •  Clinic(..., dept_id)  •  Doctor(..., dept_id)</a:t>
              </a:r>
            </a:p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Patient(..., birth_date, job)  •  Appointment(..., patient_id, doctor_id, start_time, end_time, cost, status, diagnosis)</a:t>
              </a:r>
            </a:p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Appointment_Audit(audit_id, appt_id, changed_at, old_status, new_status, changed_field, note)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6952500" y="9581255"/>
            <a:ext cx="686333" cy="265782"/>
            <a:chOff x="0" y="0"/>
            <a:chExt cx="915111" cy="35437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15115" cy="354379"/>
            </a:xfrm>
            <a:custGeom>
              <a:avLst/>
              <a:gdLst/>
              <a:ahLst/>
              <a:cxnLst/>
              <a:rect r="r" b="b" t="t" l="l"/>
              <a:pathLst>
                <a:path h="35437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54379"/>
                  </a:lnTo>
                  <a:lnTo>
                    <a:pt x="0" y="3543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5" r="0" b="320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915111" cy="373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4805793" y="-1734903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315715"/>
            <a:chOff x="0" y="0"/>
            <a:chExt cx="9883242" cy="4209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420952"/>
            </a:xfrm>
            <a:custGeom>
              <a:avLst/>
              <a:gdLst/>
              <a:ahLst/>
              <a:cxnLst/>
              <a:rect r="r" b="b" t="t" l="l"/>
              <a:pathLst>
                <a:path h="420952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420952"/>
                  </a:lnTo>
                  <a:lnTo>
                    <a:pt x="0" y="42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475" r="0" b="-4074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83242" cy="4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12903117" cy="881086"/>
            <a:chOff x="0" y="0"/>
            <a:chExt cx="17204157" cy="11747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04161" cy="1174781"/>
            </a:xfrm>
            <a:custGeom>
              <a:avLst/>
              <a:gdLst/>
              <a:ahLst/>
              <a:cxnLst/>
              <a:rect r="r" b="b" t="t" l="l"/>
              <a:pathLst>
                <a:path h="1174781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174781"/>
                  </a:lnTo>
                  <a:lnTo>
                    <a:pt x="0" y="11747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506" r="0" b="-2281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7204157" cy="1193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3"/>
                </a:lnSpc>
              </a:pPr>
              <a:r>
                <a:rPr lang="en-US" sz="44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Relationships &amp; Normalization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84615" y="2257282"/>
            <a:ext cx="8868985" cy="6123642"/>
            <a:chOff x="0" y="0"/>
            <a:chExt cx="11825313" cy="81648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25351" cy="8164830"/>
            </a:xfrm>
            <a:custGeom>
              <a:avLst/>
              <a:gdLst/>
              <a:ahLst/>
              <a:cxnLst/>
              <a:rect r="r" b="b" t="t" l="l"/>
              <a:pathLst>
                <a:path h="8164830" w="11825351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1678539" y="0"/>
                  </a:lnTo>
                  <a:cubicBezTo>
                    <a:pt x="11759565" y="0"/>
                    <a:pt x="11825351" y="65786"/>
                    <a:pt x="11825351" y="146812"/>
                  </a:cubicBezTo>
                  <a:lnTo>
                    <a:pt x="11825351" y="8018018"/>
                  </a:lnTo>
                  <a:cubicBezTo>
                    <a:pt x="11825351" y="8099044"/>
                    <a:pt x="11759565" y="8164830"/>
                    <a:pt x="11678539" y="8164830"/>
                  </a:cubicBezTo>
                  <a:lnTo>
                    <a:pt x="146812" y="8164830"/>
                  </a:lnTo>
                  <a:cubicBezTo>
                    <a:pt x="65786" y="8164830"/>
                    <a:pt x="0" y="8099171"/>
                    <a:pt x="0" y="801801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74598" y="2347274"/>
            <a:ext cx="8689019" cy="5943676"/>
            <a:chOff x="0" y="0"/>
            <a:chExt cx="11585359" cy="7924902"/>
          </a:xfrm>
        </p:grpSpPr>
        <p:sp>
          <p:nvSpPr>
            <p:cNvPr name="Freeform 22" id="22" descr="/mnt/data/report2_media_trim/image4.png"/>
            <p:cNvSpPr/>
            <p:nvPr/>
          </p:nvSpPr>
          <p:spPr>
            <a:xfrm flipH="false" flipV="false" rot="0">
              <a:off x="0" y="0"/>
              <a:ext cx="11585321" cy="7924927"/>
            </a:xfrm>
            <a:custGeom>
              <a:avLst/>
              <a:gdLst/>
              <a:ahLst/>
              <a:cxnLst/>
              <a:rect r="r" b="b" t="t" l="l"/>
              <a:pathLst>
                <a:path h="7924927" w="11585321">
                  <a:moveTo>
                    <a:pt x="0" y="0"/>
                  </a:moveTo>
                  <a:lnTo>
                    <a:pt x="11585321" y="0"/>
                  </a:lnTo>
                  <a:lnTo>
                    <a:pt x="11585321" y="7924927"/>
                  </a:lnTo>
                  <a:lnTo>
                    <a:pt x="0" y="7924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210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92235" y="8441931"/>
            <a:ext cx="8853735" cy="326796"/>
            <a:chOff x="0" y="0"/>
            <a:chExt cx="11804980" cy="4357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804983" cy="435732"/>
            </a:xfrm>
            <a:custGeom>
              <a:avLst/>
              <a:gdLst/>
              <a:ahLst/>
              <a:cxnLst/>
              <a:rect r="r" b="b" t="t" l="l"/>
              <a:pathLst>
                <a:path h="435732" w="11804983">
                  <a:moveTo>
                    <a:pt x="0" y="0"/>
                  </a:moveTo>
                  <a:lnTo>
                    <a:pt x="11804983" y="0"/>
                  </a:lnTo>
                  <a:lnTo>
                    <a:pt x="11804983" y="435732"/>
                  </a:lnTo>
                  <a:lnTo>
                    <a:pt x="0" y="435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092" r="0" b="-4656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1804980" cy="454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b="true" sz="1625" i="true">
                  <a:solidFill>
                    <a:srgbClr val="5B6B73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Entity-Relationship Diagram from the report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81517" y="2257282"/>
            <a:ext cx="7015877" cy="6123642"/>
            <a:chOff x="0" y="0"/>
            <a:chExt cx="9354502" cy="81648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54566" cy="8164830"/>
            </a:xfrm>
            <a:custGeom>
              <a:avLst/>
              <a:gdLst/>
              <a:ahLst/>
              <a:cxnLst/>
              <a:rect r="r" b="b" t="t" l="l"/>
              <a:pathLst>
                <a:path h="8164830" w="9354566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9207754" y="0"/>
                  </a:lnTo>
                  <a:cubicBezTo>
                    <a:pt x="9288780" y="0"/>
                    <a:pt x="9354566" y="65786"/>
                    <a:pt x="9354566" y="146812"/>
                  </a:cubicBezTo>
                  <a:lnTo>
                    <a:pt x="9354566" y="8018018"/>
                  </a:lnTo>
                  <a:cubicBezTo>
                    <a:pt x="9354566" y="8099044"/>
                    <a:pt x="9288780" y="8164830"/>
                    <a:pt x="9207754" y="8164830"/>
                  </a:cubicBezTo>
                  <a:lnTo>
                    <a:pt x="146812" y="8164830"/>
                  </a:lnTo>
                  <a:cubicBezTo>
                    <a:pt x="65786" y="8164830"/>
                    <a:pt x="0" y="8099171"/>
                    <a:pt x="0" y="801801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569578" y="2717892"/>
            <a:ext cx="6039755" cy="605768"/>
            <a:chOff x="0" y="0"/>
            <a:chExt cx="8053006" cy="8076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53012" cy="807681"/>
            </a:xfrm>
            <a:custGeom>
              <a:avLst/>
              <a:gdLst/>
              <a:ahLst/>
              <a:cxnLst/>
              <a:rect r="r" b="b" t="t" l="l"/>
              <a:pathLst>
                <a:path h="807681" w="8053012">
                  <a:moveTo>
                    <a:pt x="0" y="0"/>
                  </a:moveTo>
                  <a:lnTo>
                    <a:pt x="8053012" y="0"/>
                  </a:lnTo>
                  <a:lnTo>
                    <a:pt x="8053012" y="807681"/>
                  </a:lnTo>
                  <a:lnTo>
                    <a:pt x="0" y="807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51" r="0" b="-1260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8053006" cy="826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62"/>
                </a:lnSpc>
              </a:pPr>
              <a:r>
                <a:rPr lang="en-US" sz="30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Main relationships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28681" y="3593735"/>
            <a:ext cx="135741" cy="135741"/>
            <a:chOff x="0" y="0"/>
            <a:chExt cx="180988" cy="1809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1102" cy="181102"/>
            </a:xfrm>
            <a:custGeom>
              <a:avLst/>
              <a:gdLst/>
              <a:ahLst/>
              <a:cxnLst/>
              <a:rect r="r" b="b" t="t" l="l"/>
              <a:pathLst>
                <a:path h="181102" w="181102">
                  <a:moveTo>
                    <a:pt x="0" y="90551"/>
                  </a:moveTo>
                  <a:cubicBezTo>
                    <a:pt x="0" y="40513"/>
                    <a:pt x="40513" y="0"/>
                    <a:pt x="90551" y="0"/>
                  </a:cubicBezTo>
                  <a:cubicBezTo>
                    <a:pt x="140589" y="0"/>
                    <a:pt x="181102" y="40513"/>
                    <a:pt x="181102" y="90551"/>
                  </a:cubicBezTo>
                  <a:cubicBezTo>
                    <a:pt x="181102" y="140589"/>
                    <a:pt x="140589" y="181102"/>
                    <a:pt x="90551" y="181102"/>
                  </a:cubicBezTo>
                  <a:cubicBezTo>
                    <a:pt x="40513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857843" y="3500314"/>
            <a:ext cx="5490686" cy="416125"/>
            <a:chOff x="0" y="0"/>
            <a:chExt cx="7320915" cy="5548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20920" cy="554826"/>
            </a:xfrm>
            <a:custGeom>
              <a:avLst/>
              <a:gdLst/>
              <a:ahLst/>
              <a:cxnLst/>
              <a:rect r="r" b="b" t="t" l="l"/>
              <a:pathLst>
                <a:path h="5548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554826"/>
                  </a:lnTo>
                  <a:lnTo>
                    <a:pt x="0" y="554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21" r="0" b="-20328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7320915" cy="573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9"/>
                </a:lnSpc>
              </a:pPr>
              <a:r>
                <a:rPr lang="en-US" sz="209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 → Clinics: one-to-many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28681" y="4142804"/>
            <a:ext cx="135741" cy="135741"/>
            <a:chOff x="0" y="0"/>
            <a:chExt cx="180988" cy="1809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1102" cy="181102"/>
            </a:xfrm>
            <a:custGeom>
              <a:avLst/>
              <a:gdLst/>
              <a:ahLst/>
              <a:cxnLst/>
              <a:rect r="r" b="b" t="t" l="l"/>
              <a:pathLst>
                <a:path h="181102" w="181102">
                  <a:moveTo>
                    <a:pt x="0" y="90551"/>
                  </a:moveTo>
                  <a:cubicBezTo>
                    <a:pt x="0" y="40513"/>
                    <a:pt x="40513" y="0"/>
                    <a:pt x="90551" y="0"/>
                  </a:cubicBezTo>
                  <a:cubicBezTo>
                    <a:pt x="140589" y="0"/>
                    <a:pt x="181102" y="40513"/>
                    <a:pt x="181102" y="90551"/>
                  </a:cubicBezTo>
                  <a:cubicBezTo>
                    <a:pt x="181102" y="140589"/>
                    <a:pt x="140589" y="181102"/>
                    <a:pt x="90551" y="181102"/>
                  </a:cubicBezTo>
                  <a:cubicBezTo>
                    <a:pt x="40513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857843" y="4049382"/>
            <a:ext cx="5490686" cy="416125"/>
            <a:chOff x="0" y="0"/>
            <a:chExt cx="7320915" cy="55483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20920" cy="554826"/>
            </a:xfrm>
            <a:custGeom>
              <a:avLst/>
              <a:gdLst/>
              <a:ahLst/>
              <a:cxnLst/>
              <a:rect r="r" b="b" t="t" l="l"/>
              <a:pathLst>
                <a:path h="5548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554826"/>
                  </a:lnTo>
                  <a:lnTo>
                    <a:pt x="0" y="554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21" r="0" b="-2032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7320915" cy="573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9"/>
                </a:lnSpc>
              </a:pPr>
              <a:r>
                <a:rPr lang="en-US" sz="209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 → Doctors: one-to-many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28681" y="4691872"/>
            <a:ext cx="135741" cy="135741"/>
            <a:chOff x="0" y="0"/>
            <a:chExt cx="180988" cy="1809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1102" cy="181102"/>
            </a:xfrm>
            <a:custGeom>
              <a:avLst/>
              <a:gdLst/>
              <a:ahLst/>
              <a:cxnLst/>
              <a:rect r="r" b="b" t="t" l="l"/>
              <a:pathLst>
                <a:path h="181102" w="181102">
                  <a:moveTo>
                    <a:pt x="0" y="90551"/>
                  </a:moveTo>
                  <a:cubicBezTo>
                    <a:pt x="0" y="40513"/>
                    <a:pt x="40513" y="0"/>
                    <a:pt x="90551" y="0"/>
                  </a:cubicBezTo>
                  <a:cubicBezTo>
                    <a:pt x="140589" y="0"/>
                    <a:pt x="181102" y="40513"/>
                    <a:pt x="181102" y="90551"/>
                  </a:cubicBezTo>
                  <a:cubicBezTo>
                    <a:pt x="181102" y="140589"/>
                    <a:pt x="140589" y="181102"/>
                    <a:pt x="90551" y="181102"/>
                  </a:cubicBezTo>
                  <a:cubicBezTo>
                    <a:pt x="40513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857843" y="4598451"/>
            <a:ext cx="5490686" cy="416125"/>
            <a:chOff x="0" y="0"/>
            <a:chExt cx="7320915" cy="55483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20920" cy="554826"/>
            </a:xfrm>
            <a:custGeom>
              <a:avLst/>
              <a:gdLst/>
              <a:ahLst/>
              <a:cxnLst/>
              <a:rect r="r" b="b" t="t" l="l"/>
              <a:pathLst>
                <a:path h="5548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554826"/>
                  </a:lnTo>
                  <a:lnTo>
                    <a:pt x="0" y="554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21" r="0" b="-20328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7320915" cy="573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9"/>
                </a:lnSpc>
              </a:pPr>
              <a:r>
                <a:rPr lang="en-US" sz="209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Patient → Appointments: one-to-many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628681" y="5240941"/>
            <a:ext cx="135741" cy="135741"/>
            <a:chOff x="0" y="0"/>
            <a:chExt cx="180988" cy="1809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1102" cy="181102"/>
            </a:xfrm>
            <a:custGeom>
              <a:avLst/>
              <a:gdLst/>
              <a:ahLst/>
              <a:cxnLst/>
              <a:rect r="r" b="b" t="t" l="l"/>
              <a:pathLst>
                <a:path h="181102" w="181102">
                  <a:moveTo>
                    <a:pt x="0" y="90551"/>
                  </a:moveTo>
                  <a:cubicBezTo>
                    <a:pt x="0" y="40513"/>
                    <a:pt x="40513" y="0"/>
                    <a:pt x="90551" y="0"/>
                  </a:cubicBezTo>
                  <a:cubicBezTo>
                    <a:pt x="140589" y="0"/>
                    <a:pt x="181102" y="40513"/>
                    <a:pt x="181102" y="90551"/>
                  </a:cubicBezTo>
                  <a:cubicBezTo>
                    <a:pt x="181102" y="140589"/>
                    <a:pt x="140589" y="181102"/>
                    <a:pt x="90551" y="181102"/>
                  </a:cubicBezTo>
                  <a:cubicBezTo>
                    <a:pt x="40513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857843" y="5147520"/>
            <a:ext cx="5490686" cy="416125"/>
            <a:chOff x="0" y="0"/>
            <a:chExt cx="7320915" cy="55483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20920" cy="554826"/>
            </a:xfrm>
            <a:custGeom>
              <a:avLst/>
              <a:gdLst/>
              <a:ahLst/>
              <a:cxnLst/>
              <a:rect r="r" b="b" t="t" l="l"/>
              <a:pathLst>
                <a:path h="5548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554826"/>
                  </a:lnTo>
                  <a:lnTo>
                    <a:pt x="0" y="554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21" r="0" b="-20328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7320915" cy="573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9"/>
                </a:lnSpc>
              </a:pPr>
              <a:r>
                <a:rPr lang="en-US" sz="2091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Doctor → Appointments: one-to-many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628681" y="6057681"/>
            <a:ext cx="5578392" cy="19069"/>
            <a:chOff x="0" y="0"/>
            <a:chExt cx="7437857" cy="2542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437882" cy="25400"/>
            </a:xfrm>
            <a:custGeom>
              <a:avLst/>
              <a:gdLst/>
              <a:ahLst/>
              <a:cxnLst/>
              <a:rect r="r" b="b" t="t" l="l"/>
              <a:pathLst>
                <a:path h="25400" w="7437882">
                  <a:moveTo>
                    <a:pt x="0" y="0"/>
                  </a:moveTo>
                  <a:lnTo>
                    <a:pt x="7437882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655734" r="0" b="-5655834"/>
              </a:stretch>
            </a:blipFill>
            <a:ln w="19065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638215" y="6479010"/>
            <a:ext cx="5078892" cy="477634"/>
            <a:chOff x="0" y="0"/>
            <a:chExt cx="6771856" cy="63684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71850" cy="636846"/>
            </a:xfrm>
            <a:custGeom>
              <a:avLst/>
              <a:gdLst/>
              <a:ahLst/>
              <a:cxnLst/>
              <a:rect r="r" b="b" t="t" l="l"/>
              <a:pathLst>
                <a:path h="636846" w="6771850">
                  <a:moveTo>
                    <a:pt x="0" y="0"/>
                  </a:moveTo>
                  <a:lnTo>
                    <a:pt x="6771850" y="0"/>
                  </a:lnTo>
                  <a:lnTo>
                    <a:pt x="6771850" y="636846"/>
                  </a:lnTo>
                  <a:lnTo>
                    <a:pt x="0" y="636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706" r="0" b="-14167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771856" cy="64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1"/>
                </a:lnSpc>
              </a:pPr>
              <a:r>
                <a:rPr lang="en-US" sz="2376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Normalization coverage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325100" y="7089994"/>
            <a:ext cx="6459179" cy="1521780"/>
            <a:chOff x="0" y="0"/>
            <a:chExt cx="8612238" cy="2029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612239" cy="2029044"/>
            </a:xfrm>
            <a:custGeom>
              <a:avLst/>
              <a:gdLst/>
              <a:ahLst/>
              <a:cxnLst/>
              <a:rect r="r" b="b" t="t" l="l"/>
              <a:pathLst>
                <a:path h="2029044" w="8612239">
                  <a:moveTo>
                    <a:pt x="0" y="0"/>
                  </a:moveTo>
                  <a:lnTo>
                    <a:pt x="8612239" y="0"/>
                  </a:lnTo>
                  <a:lnTo>
                    <a:pt x="8612239" y="2029044"/>
                  </a:lnTo>
                  <a:lnTo>
                    <a:pt x="0" y="20290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31" r="13931" b="626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8612238" cy="203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12604" indent="-206302" lvl="1">
                <a:lnSpc>
                  <a:spcPts val="2293"/>
                </a:lnSpc>
                <a:buFont typeface="Arial"/>
                <a:buChar char="•"/>
              </a:pPr>
              <a:r>
                <a:rPr lang="en-US" b="true" sz="1911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1NF: atomic values.</a:t>
              </a:r>
            </a:p>
            <a:p>
              <a:pPr algn="l" marL="412604" indent="-206302" lvl="1">
                <a:lnSpc>
                  <a:spcPts val="2293"/>
                </a:lnSpc>
                <a:buFont typeface="Arial"/>
                <a:buChar char="•"/>
              </a:pPr>
              <a:r>
                <a:rPr lang="en-US" b="true" sz="1911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2NF: no partial dependency.</a:t>
              </a:r>
            </a:p>
            <a:p>
              <a:pPr algn="l" marL="412604" indent="-206302" lvl="1">
                <a:lnSpc>
                  <a:spcPts val="2293"/>
                </a:lnSpc>
                <a:buFont typeface="Arial"/>
                <a:buChar char="•"/>
              </a:pPr>
              <a:r>
                <a:rPr lang="en-US" b="true" sz="1911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3NF: non-key attributes depend on the primary key.</a:t>
              </a:r>
            </a:p>
            <a:p>
              <a:pPr algn="l" marL="412604" indent="-206302" lvl="1">
                <a:lnSpc>
                  <a:spcPts val="2293"/>
                </a:lnSpc>
                <a:buFont typeface="Arial"/>
                <a:buChar char="•"/>
              </a:pPr>
              <a:r>
                <a:rPr lang="en-US" b="true" sz="1911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BCNF: determinants are candidate keys or superkeys.</a:t>
              </a:r>
            </a:p>
            <a:p>
              <a:pPr algn="l">
                <a:lnSpc>
                  <a:spcPts val="2293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952500" y="9581255"/>
            <a:ext cx="686333" cy="247081"/>
            <a:chOff x="0" y="0"/>
            <a:chExt cx="915111" cy="32944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5115" cy="329445"/>
            </a:xfrm>
            <a:custGeom>
              <a:avLst/>
              <a:gdLst/>
              <a:ahLst/>
              <a:cxnLst/>
              <a:rect r="r" b="b" t="t" l="l"/>
              <a:pathLst>
                <a:path h="329445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29445"/>
                  </a:lnTo>
                  <a:lnTo>
                    <a:pt x="0" y="329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915111" cy="338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96A3A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4805793" y="-1734903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470583"/>
            <a:chOff x="0" y="0"/>
            <a:chExt cx="9883242" cy="627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627441"/>
            </a:xfrm>
            <a:custGeom>
              <a:avLst/>
              <a:gdLst/>
              <a:ahLst/>
              <a:cxnLst/>
              <a:rect r="r" b="b" t="t" l="l"/>
              <a:pathLst>
                <a:path h="627441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627441"/>
                  </a:lnTo>
                  <a:lnTo>
                    <a:pt x="0" y="627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376" r="0" b="-24046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83242" cy="646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MySQ</a:t>
              </a: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 Workbench Implementation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12903117" cy="780547"/>
            <a:chOff x="0" y="0"/>
            <a:chExt cx="17204157" cy="1040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04161" cy="1040729"/>
            </a:xfrm>
            <a:custGeom>
              <a:avLst/>
              <a:gdLst/>
              <a:ahLst/>
              <a:cxnLst/>
              <a:rect r="r" b="b" t="t" l="l"/>
              <a:pathLst>
                <a:path h="1040729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040729"/>
                  </a:lnTo>
                  <a:lnTo>
                    <a:pt x="0" y="1040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43" r="0" b="-2704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7204157" cy="106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SQL Implementation &amp; Sample Data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700" y="3699220"/>
            <a:ext cx="5162769" cy="3378298"/>
            <a:chOff x="0" y="0"/>
            <a:chExt cx="6883692" cy="45043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3654" cy="4504436"/>
            </a:xfrm>
            <a:custGeom>
              <a:avLst/>
              <a:gdLst/>
              <a:ahLst/>
              <a:cxnLst/>
              <a:rect r="r" b="b" t="t" l="l"/>
              <a:pathLst>
                <a:path h="4504436" w="6883654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736588" y="0"/>
                  </a:lnTo>
                  <a:cubicBezTo>
                    <a:pt x="6817868" y="0"/>
                    <a:pt x="6883654" y="65786"/>
                    <a:pt x="6883654" y="147066"/>
                  </a:cubicBezTo>
                  <a:lnTo>
                    <a:pt x="6883654" y="4357370"/>
                  </a:lnTo>
                  <a:cubicBezTo>
                    <a:pt x="6883654" y="4438650"/>
                    <a:pt x="6817868" y="4504436"/>
                    <a:pt x="6736588" y="4504436"/>
                  </a:cubicBezTo>
                  <a:lnTo>
                    <a:pt x="147066" y="4504436"/>
                  </a:lnTo>
                  <a:cubicBezTo>
                    <a:pt x="65786" y="4504436"/>
                    <a:pt x="0" y="4438523"/>
                    <a:pt x="0" y="435737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83408" y="3953928"/>
            <a:ext cx="4653363" cy="2868882"/>
            <a:chOff x="0" y="0"/>
            <a:chExt cx="6204483" cy="3825176"/>
          </a:xfrm>
        </p:grpSpPr>
        <p:sp>
          <p:nvSpPr>
            <p:cNvPr name="Freeform 22" id="22" descr="/mnt/data/report2_media_trim/image5.png"/>
            <p:cNvSpPr/>
            <p:nvPr/>
          </p:nvSpPr>
          <p:spPr>
            <a:xfrm flipH="false" flipV="false" rot="0">
              <a:off x="0" y="0"/>
              <a:ext cx="6204458" cy="3825240"/>
            </a:xfrm>
            <a:custGeom>
              <a:avLst/>
              <a:gdLst/>
              <a:ahLst/>
              <a:cxnLst/>
              <a:rect r="r" b="b" t="t" l="l"/>
              <a:pathLst>
                <a:path h="3825240" w="6204458">
                  <a:moveTo>
                    <a:pt x="0" y="0"/>
                  </a:moveTo>
                  <a:lnTo>
                    <a:pt x="6204458" y="0"/>
                  </a:lnTo>
                  <a:lnTo>
                    <a:pt x="6204458" y="3825240"/>
                  </a:lnTo>
                  <a:lnTo>
                    <a:pt x="0" y="3825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156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36320" y="7138526"/>
            <a:ext cx="5147520" cy="403417"/>
            <a:chOff x="0" y="0"/>
            <a:chExt cx="6863359" cy="5378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63362" cy="537893"/>
            </a:xfrm>
            <a:custGeom>
              <a:avLst/>
              <a:gdLst/>
              <a:ahLst/>
              <a:cxnLst/>
              <a:rect r="r" b="b" t="t" l="l"/>
              <a:pathLst>
                <a:path h="537893" w="6863362">
                  <a:moveTo>
                    <a:pt x="0" y="0"/>
                  </a:moveTo>
                  <a:lnTo>
                    <a:pt x="6863362" y="0"/>
                  </a:lnTo>
                  <a:lnTo>
                    <a:pt x="6863362" y="537893"/>
                  </a:lnTo>
                  <a:lnTo>
                    <a:pt x="0" y="53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000" r="0" b="-17924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863359" cy="54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b="true" sz="2025" i="true">
                  <a:solidFill>
                    <a:srgbClr val="5B6B73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Loaded sample records in MySQL Workbench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55733" y="2490635"/>
            <a:ext cx="1964446" cy="1031034"/>
            <a:chOff x="0" y="0"/>
            <a:chExt cx="2619261" cy="13747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19248" cy="1374648"/>
            </a:xfrm>
            <a:custGeom>
              <a:avLst/>
              <a:gdLst/>
              <a:ahLst/>
              <a:cxnLst/>
              <a:rect r="r" b="b" t="t" l="l"/>
              <a:pathLst>
                <a:path h="1374648" w="2619248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470658" y="0"/>
                  </a:lnTo>
                  <a:cubicBezTo>
                    <a:pt x="2552700" y="0"/>
                    <a:pt x="2619248" y="66548"/>
                    <a:pt x="2619248" y="148590"/>
                  </a:cubicBezTo>
                  <a:lnTo>
                    <a:pt x="2619248" y="1226058"/>
                  </a:lnTo>
                  <a:cubicBezTo>
                    <a:pt x="2619248" y="1308100"/>
                    <a:pt x="2552700" y="1374648"/>
                    <a:pt x="2470658" y="1374648"/>
                  </a:cubicBezTo>
                  <a:lnTo>
                    <a:pt x="148590" y="1374648"/>
                  </a:lnTo>
                  <a:cubicBezTo>
                    <a:pt x="66548" y="1374648"/>
                    <a:pt x="0" y="1308100"/>
                    <a:pt x="0" y="1226058"/>
                  </a:cubicBezTo>
                  <a:close/>
                </a:path>
              </a:pathLst>
            </a:custGeom>
            <a:solidFill>
              <a:srgbClr val="E8F7F7"/>
            </a:solidFill>
            <a:ln w="15252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000627" y="2662980"/>
            <a:ext cx="1674657" cy="656044"/>
            <a:chOff x="0" y="0"/>
            <a:chExt cx="2232876" cy="8747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32880" cy="874725"/>
            </a:xfrm>
            <a:custGeom>
              <a:avLst/>
              <a:gdLst/>
              <a:ahLst/>
              <a:cxnLst/>
              <a:rect r="r" b="b" t="t" l="l"/>
              <a:pathLst>
                <a:path h="874725" w="2232880">
                  <a:moveTo>
                    <a:pt x="0" y="0"/>
                  </a:moveTo>
                  <a:lnTo>
                    <a:pt x="2232880" y="0"/>
                  </a:lnTo>
                  <a:lnTo>
                    <a:pt x="2232880" y="874725"/>
                  </a:lnTo>
                  <a:lnTo>
                    <a:pt x="0" y="87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30" r="0" b="251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232876" cy="893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000627" y="3102235"/>
            <a:ext cx="1674657" cy="341189"/>
            <a:chOff x="0" y="0"/>
            <a:chExt cx="2232876" cy="4549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32880" cy="454916"/>
            </a:xfrm>
            <a:custGeom>
              <a:avLst/>
              <a:gdLst/>
              <a:ahLst/>
              <a:cxnLst/>
              <a:rect r="r" b="b" t="t" l="l"/>
              <a:pathLst>
                <a:path h="454916" w="2232880">
                  <a:moveTo>
                    <a:pt x="0" y="0"/>
                  </a:moveTo>
                  <a:lnTo>
                    <a:pt x="2232880" y="0"/>
                  </a:lnTo>
                  <a:lnTo>
                    <a:pt x="2232880" y="454916"/>
                  </a:lnTo>
                  <a:lnTo>
                    <a:pt x="0" y="454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64" r="0" b="-2581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232876" cy="473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5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20645" y="2490635"/>
            <a:ext cx="1964446" cy="1031034"/>
            <a:chOff x="0" y="0"/>
            <a:chExt cx="2619261" cy="13747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19248" cy="1374648"/>
            </a:xfrm>
            <a:custGeom>
              <a:avLst/>
              <a:gdLst/>
              <a:ahLst/>
              <a:cxnLst/>
              <a:rect r="r" b="b" t="t" l="l"/>
              <a:pathLst>
                <a:path h="1374648" w="2619248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470658" y="0"/>
                  </a:lnTo>
                  <a:cubicBezTo>
                    <a:pt x="2552700" y="0"/>
                    <a:pt x="2619248" y="66548"/>
                    <a:pt x="2619248" y="148590"/>
                  </a:cubicBezTo>
                  <a:lnTo>
                    <a:pt x="2619248" y="1226058"/>
                  </a:lnTo>
                  <a:cubicBezTo>
                    <a:pt x="2619248" y="1308100"/>
                    <a:pt x="2552700" y="1374648"/>
                    <a:pt x="2470658" y="1374648"/>
                  </a:cubicBezTo>
                  <a:lnTo>
                    <a:pt x="148590" y="1374648"/>
                  </a:lnTo>
                  <a:cubicBezTo>
                    <a:pt x="66548" y="1374648"/>
                    <a:pt x="0" y="1308100"/>
                    <a:pt x="0" y="1226058"/>
                  </a:cubicBezTo>
                  <a:close/>
                </a:path>
              </a:pathLst>
            </a:custGeom>
            <a:solidFill>
              <a:srgbClr val="E8F7F7"/>
            </a:solidFill>
            <a:ln w="15252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265539" y="2662980"/>
            <a:ext cx="1674657" cy="656044"/>
            <a:chOff x="0" y="0"/>
            <a:chExt cx="2232876" cy="8747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32880" cy="874725"/>
            </a:xfrm>
            <a:custGeom>
              <a:avLst/>
              <a:gdLst/>
              <a:ahLst/>
              <a:cxnLst/>
              <a:rect r="r" b="b" t="t" l="l"/>
              <a:pathLst>
                <a:path h="874725" w="2232880">
                  <a:moveTo>
                    <a:pt x="0" y="0"/>
                  </a:moveTo>
                  <a:lnTo>
                    <a:pt x="2232880" y="0"/>
                  </a:lnTo>
                  <a:lnTo>
                    <a:pt x="2232880" y="874725"/>
                  </a:lnTo>
                  <a:lnTo>
                    <a:pt x="0" y="87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30" r="0" b="251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232876" cy="893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65539" y="3102235"/>
            <a:ext cx="1674657" cy="341189"/>
            <a:chOff x="0" y="0"/>
            <a:chExt cx="2232876" cy="4549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32880" cy="454916"/>
            </a:xfrm>
            <a:custGeom>
              <a:avLst/>
              <a:gdLst/>
              <a:ahLst/>
              <a:cxnLst/>
              <a:rect r="r" b="b" t="t" l="l"/>
              <a:pathLst>
                <a:path h="454916" w="2232880">
                  <a:moveTo>
                    <a:pt x="0" y="0"/>
                  </a:moveTo>
                  <a:lnTo>
                    <a:pt x="2232880" y="0"/>
                  </a:lnTo>
                  <a:lnTo>
                    <a:pt x="2232880" y="454916"/>
                  </a:lnTo>
                  <a:lnTo>
                    <a:pt x="0" y="454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64" r="0" b="-2581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232876" cy="473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5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Clinics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385556" y="2490635"/>
            <a:ext cx="1964446" cy="1031034"/>
            <a:chOff x="0" y="0"/>
            <a:chExt cx="2619261" cy="13747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19248" cy="1374648"/>
            </a:xfrm>
            <a:custGeom>
              <a:avLst/>
              <a:gdLst/>
              <a:ahLst/>
              <a:cxnLst/>
              <a:rect r="r" b="b" t="t" l="l"/>
              <a:pathLst>
                <a:path h="1374648" w="2619248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470658" y="0"/>
                  </a:lnTo>
                  <a:cubicBezTo>
                    <a:pt x="2552700" y="0"/>
                    <a:pt x="2619248" y="66548"/>
                    <a:pt x="2619248" y="148590"/>
                  </a:cubicBezTo>
                  <a:lnTo>
                    <a:pt x="2619248" y="1226058"/>
                  </a:lnTo>
                  <a:cubicBezTo>
                    <a:pt x="2619248" y="1308100"/>
                    <a:pt x="2552700" y="1374648"/>
                    <a:pt x="2470658" y="1374648"/>
                  </a:cubicBezTo>
                  <a:lnTo>
                    <a:pt x="148590" y="1374648"/>
                  </a:lnTo>
                  <a:cubicBezTo>
                    <a:pt x="66548" y="1374648"/>
                    <a:pt x="0" y="1308100"/>
                    <a:pt x="0" y="1226058"/>
                  </a:cubicBezTo>
                  <a:close/>
                </a:path>
              </a:pathLst>
            </a:custGeom>
            <a:solidFill>
              <a:srgbClr val="E8F7F7"/>
            </a:solidFill>
            <a:ln w="15252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530451" y="2662980"/>
            <a:ext cx="1674657" cy="656044"/>
            <a:chOff x="0" y="0"/>
            <a:chExt cx="2232876" cy="8747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32880" cy="874725"/>
            </a:xfrm>
            <a:custGeom>
              <a:avLst/>
              <a:gdLst/>
              <a:ahLst/>
              <a:cxnLst/>
              <a:rect r="r" b="b" t="t" l="l"/>
              <a:pathLst>
                <a:path h="874725" w="2232880">
                  <a:moveTo>
                    <a:pt x="0" y="0"/>
                  </a:moveTo>
                  <a:lnTo>
                    <a:pt x="2232880" y="0"/>
                  </a:lnTo>
                  <a:lnTo>
                    <a:pt x="2232880" y="874725"/>
                  </a:lnTo>
                  <a:lnTo>
                    <a:pt x="0" y="87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30" r="0" b="251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232876" cy="893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530451" y="3102235"/>
            <a:ext cx="1674657" cy="341189"/>
            <a:chOff x="0" y="0"/>
            <a:chExt cx="2232876" cy="4549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32880" cy="454916"/>
            </a:xfrm>
            <a:custGeom>
              <a:avLst/>
              <a:gdLst/>
              <a:ahLst/>
              <a:cxnLst/>
              <a:rect r="r" b="b" t="t" l="l"/>
              <a:pathLst>
                <a:path h="454916" w="2232880">
                  <a:moveTo>
                    <a:pt x="0" y="0"/>
                  </a:moveTo>
                  <a:lnTo>
                    <a:pt x="2232880" y="0"/>
                  </a:lnTo>
                  <a:lnTo>
                    <a:pt x="2232880" y="454916"/>
                  </a:lnTo>
                  <a:lnTo>
                    <a:pt x="0" y="454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64" r="0" b="-2581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2232876" cy="473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5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Doctors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650468" y="2490635"/>
            <a:ext cx="1964446" cy="1031034"/>
            <a:chOff x="0" y="0"/>
            <a:chExt cx="2619261" cy="13747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19248" cy="1374648"/>
            </a:xfrm>
            <a:custGeom>
              <a:avLst/>
              <a:gdLst/>
              <a:ahLst/>
              <a:cxnLst/>
              <a:rect r="r" b="b" t="t" l="l"/>
              <a:pathLst>
                <a:path h="1374648" w="2619248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470658" y="0"/>
                  </a:lnTo>
                  <a:cubicBezTo>
                    <a:pt x="2552700" y="0"/>
                    <a:pt x="2619248" y="66548"/>
                    <a:pt x="2619248" y="148590"/>
                  </a:cubicBezTo>
                  <a:lnTo>
                    <a:pt x="2619248" y="1226058"/>
                  </a:lnTo>
                  <a:cubicBezTo>
                    <a:pt x="2619248" y="1308100"/>
                    <a:pt x="2552700" y="1374648"/>
                    <a:pt x="2470658" y="1374648"/>
                  </a:cubicBezTo>
                  <a:lnTo>
                    <a:pt x="148590" y="1374648"/>
                  </a:lnTo>
                  <a:cubicBezTo>
                    <a:pt x="66548" y="1374648"/>
                    <a:pt x="0" y="1308100"/>
                    <a:pt x="0" y="1226058"/>
                  </a:cubicBezTo>
                  <a:close/>
                </a:path>
              </a:pathLst>
            </a:custGeom>
            <a:solidFill>
              <a:srgbClr val="E8F7F7"/>
            </a:solidFill>
            <a:ln w="15252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795362" y="2662980"/>
            <a:ext cx="1674657" cy="656044"/>
            <a:chOff x="0" y="0"/>
            <a:chExt cx="2232876" cy="87472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32880" cy="874725"/>
            </a:xfrm>
            <a:custGeom>
              <a:avLst/>
              <a:gdLst/>
              <a:ahLst/>
              <a:cxnLst/>
              <a:rect r="r" b="b" t="t" l="l"/>
              <a:pathLst>
                <a:path h="874725" w="2232880">
                  <a:moveTo>
                    <a:pt x="0" y="0"/>
                  </a:moveTo>
                  <a:lnTo>
                    <a:pt x="2232880" y="0"/>
                  </a:lnTo>
                  <a:lnTo>
                    <a:pt x="2232880" y="874725"/>
                  </a:lnTo>
                  <a:lnTo>
                    <a:pt x="0" y="87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30" r="0" b="2515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2232876" cy="893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795362" y="3102235"/>
            <a:ext cx="1674657" cy="341189"/>
            <a:chOff x="0" y="0"/>
            <a:chExt cx="2232876" cy="45491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32880" cy="454916"/>
            </a:xfrm>
            <a:custGeom>
              <a:avLst/>
              <a:gdLst/>
              <a:ahLst/>
              <a:cxnLst/>
              <a:rect r="r" b="b" t="t" l="l"/>
              <a:pathLst>
                <a:path h="454916" w="2232880">
                  <a:moveTo>
                    <a:pt x="0" y="0"/>
                  </a:moveTo>
                  <a:lnTo>
                    <a:pt x="2232880" y="0"/>
                  </a:lnTo>
                  <a:lnTo>
                    <a:pt x="2232880" y="454916"/>
                  </a:lnTo>
                  <a:lnTo>
                    <a:pt x="0" y="454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64" r="0" b="-2581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2232876" cy="473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5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Patients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915370" y="2490635"/>
            <a:ext cx="1964446" cy="1031034"/>
            <a:chOff x="0" y="0"/>
            <a:chExt cx="2619261" cy="13747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619248" cy="1374648"/>
            </a:xfrm>
            <a:custGeom>
              <a:avLst/>
              <a:gdLst/>
              <a:ahLst/>
              <a:cxnLst/>
              <a:rect r="r" b="b" t="t" l="l"/>
              <a:pathLst>
                <a:path h="1374648" w="2619248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470658" y="0"/>
                  </a:lnTo>
                  <a:cubicBezTo>
                    <a:pt x="2552700" y="0"/>
                    <a:pt x="2619248" y="66548"/>
                    <a:pt x="2619248" y="148590"/>
                  </a:cubicBezTo>
                  <a:lnTo>
                    <a:pt x="2619248" y="1226058"/>
                  </a:lnTo>
                  <a:cubicBezTo>
                    <a:pt x="2619248" y="1308100"/>
                    <a:pt x="2552700" y="1374648"/>
                    <a:pt x="2470658" y="1374648"/>
                  </a:cubicBezTo>
                  <a:lnTo>
                    <a:pt x="148590" y="1374648"/>
                  </a:lnTo>
                  <a:cubicBezTo>
                    <a:pt x="66548" y="1374648"/>
                    <a:pt x="0" y="1308100"/>
                    <a:pt x="0" y="1226058"/>
                  </a:cubicBezTo>
                  <a:close/>
                </a:path>
              </a:pathLst>
            </a:custGeom>
            <a:solidFill>
              <a:srgbClr val="E8F7F7"/>
            </a:solidFill>
            <a:ln w="15252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6060264" y="2662980"/>
            <a:ext cx="1674657" cy="656044"/>
            <a:chOff x="0" y="0"/>
            <a:chExt cx="2232876" cy="87472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32880" cy="874725"/>
            </a:xfrm>
            <a:custGeom>
              <a:avLst/>
              <a:gdLst/>
              <a:ahLst/>
              <a:cxnLst/>
              <a:rect r="r" b="b" t="t" l="l"/>
              <a:pathLst>
                <a:path h="874725" w="2232880">
                  <a:moveTo>
                    <a:pt x="0" y="0"/>
                  </a:moveTo>
                  <a:lnTo>
                    <a:pt x="2232880" y="0"/>
                  </a:lnTo>
                  <a:lnTo>
                    <a:pt x="2232880" y="874725"/>
                  </a:lnTo>
                  <a:lnTo>
                    <a:pt x="0" y="87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30" r="0" b="2515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2232876" cy="893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060264" y="3102235"/>
            <a:ext cx="1674657" cy="341189"/>
            <a:chOff x="0" y="0"/>
            <a:chExt cx="2232876" cy="45491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32880" cy="454916"/>
            </a:xfrm>
            <a:custGeom>
              <a:avLst/>
              <a:gdLst/>
              <a:ahLst/>
              <a:cxnLst/>
              <a:rect r="r" b="b" t="t" l="l"/>
              <a:pathLst>
                <a:path h="454916" w="2232880">
                  <a:moveTo>
                    <a:pt x="0" y="0"/>
                  </a:moveTo>
                  <a:lnTo>
                    <a:pt x="2232880" y="0"/>
                  </a:lnTo>
                  <a:lnTo>
                    <a:pt x="2232880" y="454916"/>
                  </a:lnTo>
                  <a:lnTo>
                    <a:pt x="0" y="454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64" r="0" b="-2581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2232876" cy="473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5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Appointments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855733" y="4179027"/>
            <a:ext cx="10927994" cy="4339171"/>
            <a:chOff x="0" y="0"/>
            <a:chExt cx="14570659" cy="578556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570711" cy="5785485"/>
            </a:xfrm>
            <a:custGeom>
              <a:avLst/>
              <a:gdLst/>
              <a:ahLst/>
              <a:cxnLst/>
              <a:rect r="r" b="b" t="t" l="l"/>
              <a:pathLst>
                <a:path h="5785485" w="1457071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4423771" y="0"/>
                  </a:lnTo>
                  <a:cubicBezTo>
                    <a:pt x="14504924" y="0"/>
                    <a:pt x="14570711" y="65786"/>
                    <a:pt x="14570711" y="146939"/>
                  </a:cubicBezTo>
                  <a:lnTo>
                    <a:pt x="14570711" y="5638546"/>
                  </a:lnTo>
                  <a:cubicBezTo>
                    <a:pt x="14570711" y="5719699"/>
                    <a:pt x="14504924" y="5785485"/>
                    <a:pt x="14423771" y="5785485"/>
                  </a:cubicBezTo>
                  <a:lnTo>
                    <a:pt x="146939" y="5785485"/>
                  </a:lnTo>
                  <a:cubicBezTo>
                    <a:pt x="65786" y="5785612"/>
                    <a:pt x="0" y="5719826"/>
                    <a:pt x="0" y="563854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7343794" y="4639637"/>
            <a:ext cx="6451559" cy="629686"/>
            <a:chOff x="0" y="0"/>
            <a:chExt cx="8602078" cy="83958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602080" cy="839571"/>
            </a:xfrm>
            <a:custGeom>
              <a:avLst/>
              <a:gdLst/>
              <a:ahLst/>
              <a:cxnLst/>
              <a:rect r="r" b="b" t="t" l="l"/>
              <a:pathLst>
                <a:path h="839571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839571"/>
                  </a:lnTo>
                  <a:lnTo>
                    <a:pt x="0" y="8395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120" r="0" b="-13015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8602078" cy="858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31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Submitted SQL Files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334269" y="5316436"/>
            <a:ext cx="2764412" cy="430863"/>
            <a:chOff x="0" y="0"/>
            <a:chExt cx="3685883" cy="5744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85921" cy="574421"/>
            </a:xfrm>
            <a:custGeom>
              <a:avLst/>
              <a:gdLst/>
              <a:ahLst/>
              <a:cxnLst/>
              <a:rect r="r" b="b" t="t" l="l"/>
              <a:pathLst>
                <a:path h="574421" w="3685921">
                  <a:moveTo>
                    <a:pt x="0" y="76581"/>
                  </a:moveTo>
                  <a:cubicBezTo>
                    <a:pt x="0" y="34290"/>
                    <a:pt x="34290" y="0"/>
                    <a:pt x="76581" y="0"/>
                  </a:cubicBezTo>
                  <a:lnTo>
                    <a:pt x="3609340" y="0"/>
                  </a:lnTo>
                  <a:cubicBezTo>
                    <a:pt x="3651631" y="0"/>
                    <a:pt x="3685921" y="34290"/>
                    <a:pt x="3685921" y="76581"/>
                  </a:cubicBezTo>
                  <a:lnTo>
                    <a:pt x="3685921" y="497840"/>
                  </a:lnTo>
                  <a:cubicBezTo>
                    <a:pt x="3685921" y="540131"/>
                    <a:pt x="3651631" y="574421"/>
                    <a:pt x="3609340" y="574421"/>
                  </a:cubicBezTo>
                  <a:lnTo>
                    <a:pt x="76581" y="574421"/>
                  </a:lnTo>
                  <a:cubicBezTo>
                    <a:pt x="34290" y="574548"/>
                    <a:pt x="0" y="540258"/>
                    <a:pt x="0" y="497840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7494794" y="5442642"/>
            <a:ext cx="2470814" cy="352906"/>
            <a:chOff x="0" y="0"/>
            <a:chExt cx="3294418" cy="47054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94414" cy="470528"/>
            </a:xfrm>
            <a:custGeom>
              <a:avLst/>
              <a:gdLst/>
              <a:ahLst/>
              <a:cxnLst/>
              <a:rect r="r" b="b" t="t" l="l"/>
              <a:pathLst>
                <a:path h="470528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470528"/>
                  </a:lnTo>
                  <a:lnTo>
                    <a:pt x="0" y="470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086" r="0" b="-5976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3294418" cy="499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25"/>
                </a:lnSpc>
              </a:pPr>
              <a:r>
                <a:rPr lang="en-US" sz="1770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create_tables.sql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269688" y="5316436"/>
            <a:ext cx="7717913" cy="403429"/>
            <a:chOff x="0" y="0"/>
            <a:chExt cx="10290551" cy="53790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90556" cy="537910"/>
            </a:xfrm>
            <a:custGeom>
              <a:avLst/>
              <a:gdLst/>
              <a:ahLst/>
              <a:cxnLst/>
              <a:rect r="r" b="b" t="t" l="l"/>
              <a:pathLst>
                <a:path h="537910" w="10290556">
                  <a:moveTo>
                    <a:pt x="0" y="0"/>
                  </a:moveTo>
                  <a:lnTo>
                    <a:pt x="10290556" y="0"/>
                  </a:lnTo>
                  <a:lnTo>
                    <a:pt x="10290556" y="537910"/>
                  </a:lnTo>
                  <a:lnTo>
                    <a:pt x="0" y="537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904" r="14629" b="-2505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0290551" cy="547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Creates the </a:t>
              </a:r>
              <a:r>
                <a:rPr lang="en-US" sz="20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database, tables, constraints, indexes, and views.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334269" y="5975318"/>
            <a:ext cx="2764412" cy="430863"/>
            <a:chOff x="0" y="0"/>
            <a:chExt cx="3685883" cy="5744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85921" cy="574421"/>
            </a:xfrm>
            <a:custGeom>
              <a:avLst/>
              <a:gdLst/>
              <a:ahLst/>
              <a:cxnLst/>
              <a:rect r="r" b="b" t="t" l="l"/>
              <a:pathLst>
                <a:path h="574421" w="3685921">
                  <a:moveTo>
                    <a:pt x="0" y="76581"/>
                  </a:moveTo>
                  <a:cubicBezTo>
                    <a:pt x="0" y="34290"/>
                    <a:pt x="34290" y="0"/>
                    <a:pt x="76581" y="0"/>
                  </a:cubicBezTo>
                  <a:lnTo>
                    <a:pt x="3609340" y="0"/>
                  </a:lnTo>
                  <a:cubicBezTo>
                    <a:pt x="3651631" y="0"/>
                    <a:pt x="3685921" y="34290"/>
                    <a:pt x="3685921" y="76581"/>
                  </a:cubicBezTo>
                  <a:lnTo>
                    <a:pt x="3685921" y="497840"/>
                  </a:lnTo>
                  <a:cubicBezTo>
                    <a:pt x="3685921" y="540131"/>
                    <a:pt x="3651631" y="574421"/>
                    <a:pt x="3609340" y="574421"/>
                  </a:cubicBezTo>
                  <a:lnTo>
                    <a:pt x="76581" y="574421"/>
                  </a:lnTo>
                  <a:cubicBezTo>
                    <a:pt x="34290" y="574548"/>
                    <a:pt x="0" y="540258"/>
                    <a:pt x="0" y="497840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7494794" y="6101524"/>
            <a:ext cx="2470814" cy="352906"/>
            <a:chOff x="0" y="0"/>
            <a:chExt cx="3294418" cy="47054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294414" cy="470528"/>
            </a:xfrm>
            <a:custGeom>
              <a:avLst/>
              <a:gdLst/>
              <a:ahLst/>
              <a:cxnLst/>
              <a:rect r="r" b="b" t="t" l="l"/>
              <a:pathLst>
                <a:path h="470528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470528"/>
                  </a:lnTo>
                  <a:lnTo>
                    <a:pt x="0" y="470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086" r="0" b="-5976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3294418" cy="499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25"/>
                </a:lnSpc>
              </a:pPr>
              <a:r>
                <a:rPr lang="en-US" sz="1770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load_data.sql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363676" y="6053490"/>
            <a:ext cx="6588824" cy="403429"/>
            <a:chOff x="0" y="0"/>
            <a:chExt cx="8785098" cy="53790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85103" cy="537910"/>
            </a:xfrm>
            <a:custGeom>
              <a:avLst/>
              <a:gdLst/>
              <a:ahLst/>
              <a:cxnLst/>
              <a:rect r="r" b="b" t="t" l="l"/>
              <a:pathLst>
                <a:path h="53791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37910"/>
                  </a:lnTo>
                  <a:lnTo>
                    <a:pt x="0" y="537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904" r="0" b="-25055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8785098" cy="547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Inserts </a:t>
              </a:r>
              <a:r>
                <a:rPr lang="en-US" sz="20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sample records into the database.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334269" y="6634201"/>
            <a:ext cx="2764412" cy="430863"/>
            <a:chOff x="0" y="0"/>
            <a:chExt cx="3685883" cy="57448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85921" cy="574421"/>
            </a:xfrm>
            <a:custGeom>
              <a:avLst/>
              <a:gdLst/>
              <a:ahLst/>
              <a:cxnLst/>
              <a:rect r="r" b="b" t="t" l="l"/>
              <a:pathLst>
                <a:path h="574421" w="3685921">
                  <a:moveTo>
                    <a:pt x="0" y="76581"/>
                  </a:moveTo>
                  <a:cubicBezTo>
                    <a:pt x="0" y="34290"/>
                    <a:pt x="34290" y="0"/>
                    <a:pt x="76581" y="0"/>
                  </a:cubicBezTo>
                  <a:lnTo>
                    <a:pt x="3609340" y="0"/>
                  </a:lnTo>
                  <a:cubicBezTo>
                    <a:pt x="3651631" y="0"/>
                    <a:pt x="3685921" y="34290"/>
                    <a:pt x="3685921" y="76581"/>
                  </a:cubicBezTo>
                  <a:lnTo>
                    <a:pt x="3685921" y="497840"/>
                  </a:lnTo>
                  <a:cubicBezTo>
                    <a:pt x="3685921" y="540131"/>
                    <a:pt x="3651631" y="574421"/>
                    <a:pt x="3609340" y="574421"/>
                  </a:cubicBezTo>
                  <a:lnTo>
                    <a:pt x="76581" y="574421"/>
                  </a:lnTo>
                  <a:cubicBezTo>
                    <a:pt x="34290" y="574548"/>
                    <a:pt x="0" y="540258"/>
                    <a:pt x="0" y="497840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7494794" y="6673179"/>
            <a:ext cx="2470814" cy="352906"/>
            <a:chOff x="0" y="0"/>
            <a:chExt cx="3294418" cy="47054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294414" cy="470528"/>
            </a:xfrm>
            <a:custGeom>
              <a:avLst/>
              <a:gdLst/>
              <a:ahLst/>
              <a:cxnLst/>
              <a:rect r="r" b="b" t="t" l="l"/>
              <a:pathLst>
                <a:path h="470528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470528"/>
                  </a:lnTo>
                  <a:lnTo>
                    <a:pt x="0" y="470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086" r="0" b="-5976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3294418" cy="499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25"/>
                </a:lnSpc>
              </a:pPr>
              <a:r>
                <a:rPr lang="en-US" sz="1770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queries.sql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363676" y="6712372"/>
            <a:ext cx="7066515" cy="403429"/>
            <a:chOff x="0" y="0"/>
            <a:chExt cx="9422021" cy="53790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422026" cy="537910"/>
            </a:xfrm>
            <a:custGeom>
              <a:avLst/>
              <a:gdLst/>
              <a:ahLst/>
              <a:cxnLst/>
              <a:rect r="r" b="b" t="t" l="l"/>
              <a:pathLst>
                <a:path h="537910" w="9422026">
                  <a:moveTo>
                    <a:pt x="0" y="0"/>
                  </a:moveTo>
                  <a:lnTo>
                    <a:pt x="9422026" y="0"/>
                  </a:lnTo>
                  <a:lnTo>
                    <a:pt x="9422026" y="537910"/>
                  </a:lnTo>
                  <a:lnTo>
                    <a:pt x="0" y="537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904" r="6759" b="-25055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9422021" cy="547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Includes </a:t>
              </a:r>
              <a:r>
                <a:rPr lang="en-US" sz="20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retrieval, aggregation, reporting, and update queries.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334269" y="7293083"/>
            <a:ext cx="2764412" cy="430863"/>
            <a:chOff x="0" y="0"/>
            <a:chExt cx="3685883" cy="5744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685921" cy="574421"/>
            </a:xfrm>
            <a:custGeom>
              <a:avLst/>
              <a:gdLst/>
              <a:ahLst/>
              <a:cxnLst/>
              <a:rect r="r" b="b" t="t" l="l"/>
              <a:pathLst>
                <a:path h="574421" w="3685921">
                  <a:moveTo>
                    <a:pt x="0" y="76581"/>
                  </a:moveTo>
                  <a:cubicBezTo>
                    <a:pt x="0" y="34290"/>
                    <a:pt x="34290" y="0"/>
                    <a:pt x="76581" y="0"/>
                  </a:cubicBezTo>
                  <a:lnTo>
                    <a:pt x="3609340" y="0"/>
                  </a:lnTo>
                  <a:cubicBezTo>
                    <a:pt x="3651631" y="0"/>
                    <a:pt x="3685921" y="34290"/>
                    <a:pt x="3685921" y="76581"/>
                  </a:cubicBezTo>
                  <a:lnTo>
                    <a:pt x="3685921" y="497840"/>
                  </a:lnTo>
                  <a:cubicBezTo>
                    <a:pt x="3685921" y="540131"/>
                    <a:pt x="3651631" y="574421"/>
                    <a:pt x="3609340" y="574421"/>
                  </a:cubicBezTo>
                  <a:lnTo>
                    <a:pt x="76581" y="574421"/>
                  </a:lnTo>
                  <a:cubicBezTo>
                    <a:pt x="34290" y="574548"/>
                    <a:pt x="0" y="540258"/>
                    <a:pt x="0" y="497840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7439877" y="7371255"/>
            <a:ext cx="2470814" cy="352906"/>
            <a:chOff x="0" y="0"/>
            <a:chExt cx="3294418" cy="47054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294414" cy="470528"/>
            </a:xfrm>
            <a:custGeom>
              <a:avLst/>
              <a:gdLst/>
              <a:ahLst/>
              <a:cxnLst/>
              <a:rect r="r" b="b" t="t" l="l"/>
              <a:pathLst>
                <a:path h="470528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470528"/>
                  </a:lnTo>
                  <a:lnTo>
                    <a:pt x="0" y="470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086" r="0" b="-5976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3294418" cy="499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25"/>
                </a:lnSpc>
              </a:pPr>
              <a:r>
                <a:rPr lang="en-US" sz="1770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triggers.sql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363676" y="7371255"/>
            <a:ext cx="6588824" cy="403429"/>
            <a:chOff x="0" y="0"/>
            <a:chExt cx="8785098" cy="53790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785103" cy="537910"/>
            </a:xfrm>
            <a:custGeom>
              <a:avLst/>
              <a:gdLst/>
              <a:ahLst/>
              <a:cxnLst/>
              <a:rect r="r" b="b" t="t" l="l"/>
              <a:pathLst>
                <a:path h="53791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37910"/>
                  </a:lnTo>
                  <a:lnTo>
                    <a:pt x="0" y="537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904" r="0" b="-25055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8785098" cy="547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Cre</a:t>
              </a:r>
              <a:r>
                <a:rPr lang="en-US" sz="2026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ates triggers for scheduling and workflow rules.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334269" y="8089230"/>
            <a:ext cx="9421873" cy="19069"/>
            <a:chOff x="0" y="0"/>
            <a:chExt cx="12562497" cy="2542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2562459" cy="25400"/>
            </a:xfrm>
            <a:custGeom>
              <a:avLst/>
              <a:gdLst/>
              <a:ahLst/>
              <a:cxnLst/>
              <a:rect r="r" b="b" t="t" l="l"/>
              <a:pathLst>
                <a:path h="25400" w="12562459">
                  <a:moveTo>
                    <a:pt x="0" y="0"/>
                  </a:moveTo>
                  <a:lnTo>
                    <a:pt x="12562459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9586986" r="0" b="-9587086"/>
              </a:stretch>
            </a:blipFill>
            <a:ln w="19065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7206529" y="8956348"/>
            <a:ext cx="7964352" cy="753637"/>
            <a:chOff x="0" y="0"/>
            <a:chExt cx="10619136" cy="100484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619132" cy="1004832"/>
            </a:xfrm>
            <a:custGeom>
              <a:avLst/>
              <a:gdLst/>
              <a:ahLst/>
              <a:cxnLst/>
              <a:rect r="r" b="b" t="t" l="l"/>
              <a:pathLst>
                <a:path h="1004832" w="10619132">
                  <a:moveTo>
                    <a:pt x="0" y="0"/>
                  </a:moveTo>
                  <a:lnTo>
                    <a:pt x="10619132" y="0"/>
                  </a:lnTo>
                  <a:lnTo>
                    <a:pt x="10619132" y="1004832"/>
                  </a:lnTo>
                  <a:lnTo>
                    <a:pt x="0" y="1004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121" r="-17199" b="-15955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10619136" cy="1023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1"/>
                </a:lnSpc>
              </a:pPr>
              <a:r>
                <a:rPr lang="en-US" sz="2176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Sampl</a:t>
              </a:r>
              <a:r>
                <a:rPr lang="en-US" sz="2176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 data was loaded in MySQL Workbench and used to test views, queries, triggers, and the web application connection.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6952500" y="9581255"/>
            <a:ext cx="686333" cy="328010"/>
            <a:chOff x="0" y="0"/>
            <a:chExt cx="915111" cy="437347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15115" cy="437350"/>
            </a:xfrm>
            <a:custGeom>
              <a:avLst/>
              <a:gdLst/>
              <a:ahLst/>
              <a:cxnLst/>
              <a:rect r="r" b="b" t="t" l="l"/>
              <a:pathLst>
                <a:path h="437350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7" r="0" b="2156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915111" cy="45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4805793" y="-1734903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315715"/>
            <a:chOff x="0" y="0"/>
            <a:chExt cx="9883242" cy="4209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420952"/>
            </a:xfrm>
            <a:custGeom>
              <a:avLst/>
              <a:gdLst/>
              <a:ahLst/>
              <a:cxnLst/>
              <a:rect r="r" b="b" t="t" l="l"/>
              <a:pathLst>
                <a:path h="420952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420952"/>
                  </a:lnTo>
                  <a:lnTo>
                    <a:pt x="0" y="42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475" r="0" b="-4074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9883242" cy="43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1"/>
                </a:lnSpc>
              </a:pPr>
              <a:r>
                <a:rPr lang="en-US" sz="14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Constraints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12903117" cy="818858"/>
            <a:chOff x="0" y="0"/>
            <a:chExt cx="17204157" cy="10918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04161" cy="1091810"/>
            </a:xfrm>
            <a:custGeom>
              <a:avLst/>
              <a:gdLst/>
              <a:ahLst/>
              <a:cxnLst/>
              <a:rect r="r" b="b" t="t" l="l"/>
              <a:pathLst>
                <a:path h="1091810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091810"/>
                  </a:lnTo>
                  <a:lnTo>
                    <a:pt x="0" y="10918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35" r="0" b="-2531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7204157" cy="1120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23"/>
                </a:lnSpc>
              </a:pPr>
              <a:r>
                <a:rPr lang="en-US" sz="41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Integrity &amp; Design Decisions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84615" y="2394547"/>
            <a:ext cx="5231406" cy="2213788"/>
            <a:chOff x="0" y="0"/>
            <a:chExt cx="6975208" cy="29517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75221" cy="2951730"/>
            </a:xfrm>
            <a:custGeom>
              <a:avLst/>
              <a:gdLst/>
              <a:ahLst/>
              <a:cxnLst/>
              <a:rect r="r" b="b" t="t" l="l"/>
              <a:pathLst>
                <a:path h="2951730" w="6975221">
                  <a:moveTo>
                    <a:pt x="0" y="193488"/>
                  </a:moveTo>
                  <a:cubicBezTo>
                    <a:pt x="0" y="86679"/>
                    <a:pt x="66167" y="0"/>
                    <a:pt x="147701" y="0"/>
                  </a:cubicBezTo>
                  <a:lnTo>
                    <a:pt x="6827520" y="0"/>
                  </a:lnTo>
                  <a:cubicBezTo>
                    <a:pt x="6909053" y="0"/>
                    <a:pt x="6975221" y="86679"/>
                    <a:pt x="6975221" y="193488"/>
                  </a:cubicBezTo>
                  <a:lnTo>
                    <a:pt x="6975221" y="2758246"/>
                  </a:lnTo>
                  <a:cubicBezTo>
                    <a:pt x="6975221" y="2865056"/>
                    <a:pt x="6909053" y="2951730"/>
                    <a:pt x="6827520" y="2951730"/>
                  </a:cubicBezTo>
                  <a:lnTo>
                    <a:pt x="147701" y="2951730"/>
                  </a:lnTo>
                  <a:cubicBezTo>
                    <a:pt x="66167" y="2951730"/>
                    <a:pt x="0" y="2865056"/>
                    <a:pt x="0" y="275824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29789" y="2639730"/>
            <a:ext cx="595589" cy="595589"/>
            <a:chOff x="0" y="0"/>
            <a:chExt cx="794118" cy="7941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80500" y="2786529"/>
            <a:ext cx="494167" cy="351940"/>
            <a:chOff x="0" y="0"/>
            <a:chExt cx="658889" cy="4692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53108" y="2635529"/>
            <a:ext cx="4008206" cy="466895"/>
            <a:chOff x="0" y="0"/>
            <a:chExt cx="5344274" cy="6225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44271" cy="622530"/>
            </a:xfrm>
            <a:custGeom>
              <a:avLst/>
              <a:gdLst/>
              <a:ahLst/>
              <a:cxnLst/>
              <a:rect r="r" b="b" t="t" l="l"/>
              <a:pathLst>
                <a:path h="62253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54" r="0" b="-10549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344274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Primary Keys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12904" y="3368669"/>
            <a:ext cx="459537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Unique record identity for every table: Department, Clinic, Doctor, Patient, and Appointment.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81204" y="2394547"/>
            <a:ext cx="5231406" cy="2213788"/>
            <a:chOff x="0" y="0"/>
            <a:chExt cx="6975208" cy="29517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75221" cy="2951730"/>
            </a:xfrm>
            <a:custGeom>
              <a:avLst/>
              <a:gdLst/>
              <a:ahLst/>
              <a:cxnLst/>
              <a:rect r="r" b="b" t="t" l="l"/>
              <a:pathLst>
                <a:path h="2951730" w="6975221">
                  <a:moveTo>
                    <a:pt x="0" y="193488"/>
                  </a:moveTo>
                  <a:cubicBezTo>
                    <a:pt x="0" y="86679"/>
                    <a:pt x="66167" y="0"/>
                    <a:pt x="147701" y="0"/>
                  </a:cubicBezTo>
                  <a:lnTo>
                    <a:pt x="6827520" y="0"/>
                  </a:lnTo>
                  <a:cubicBezTo>
                    <a:pt x="6909053" y="0"/>
                    <a:pt x="6975221" y="86679"/>
                    <a:pt x="6975221" y="193488"/>
                  </a:cubicBezTo>
                  <a:lnTo>
                    <a:pt x="6975221" y="2758246"/>
                  </a:lnTo>
                  <a:cubicBezTo>
                    <a:pt x="6975221" y="2865056"/>
                    <a:pt x="6909053" y="2951730"/>
                    <a:pt x="6827520" y="2951730"/>
                  </a:cubicBezTo>
                  <a:lnTo>
                    <a:pt x="147701" y="2951730"/>
                  </a:lnTo>
                  <a:cubicBezTo>
                    <a:pt x="66167" y="2951730"/>
                    <a:pt x="0" y="2865056"/>
                    <a:pt x="0" y="275824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826377" y="2639730"/>
            <a:ext cx="595589" cy="595589"/>
            <a:chOff x="0" y="0"/>
            <a:chExt cx="794118" cy="7941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877088" y="2786529"/>
            <a:ext cx="494167" cy="351940"/>
            <a:chOff x="0" y="0"/>
            <a:chExt cx="658889" cy="46925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49696" y="2635529"/>
            <a:ext cx="4008206" cy="466895"/>
            <a:chOff x="0" y="0"/>
            <a:chExt cx="5344274" cy="62252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44271" cy="622530"/>
            </a:xfrm>
            <a:custGeom>
              <a:avLst/>
              <a:gdLst/>
              <a:ahLst/>
              <a:cxnLst/>
              <a:rect r="r" b="b" t="t" l="l"/>
              <a:pathLst>
                <a:path h="62253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54" r="0" b="-10549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344274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Foreign Keys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877088" y="3465157"/>
            <a:ext cx="492366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Ensu</a:t>
            </a: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 each appointment is connected to an existing patient and doctor.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277792" y="2394547"/>
            <a:ext cx="5231406" cy="2213788"/>
            <a:chOff x="0" y="0"/>
            <a:chExt cx="6975208" cy="29517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75221" cy="2951730"/>
            </a:xfrm>
            <a:custGeom>
              <a:avLst/>
              <a:gdLst/>
              <a:ahLst/>
              <a:cxnLst/>
              <a:rect r="r" b="b" t="t" l="l"/>
              <a:pathLst>
                <a:path h="2951730" w="6975221">
                  <a:moveTo>
                    <a:pt x="0" y="193488"/>
                  </a:moveTo>
                  <a:cubicBezTo>
                    <a:pt x="0" y="86679"/>
                    <a:pt x="66167" y="0"/>
                    <a:pt x="147701" y="0"/>
                  </a:cubicBezTo>
                  <a:lnTo>
                    <a:pt x="6827520" y="0"/>
                  </a:lnTo>
                  <a:cubicBezTo>
                    <a:pt x="6909053" y="0"/>
                    <a:pt x="6975221" y="86679"/>
                    <a:pt x="6975221" y="193488"/>
                  </a:cubicBezTo>
                  <a:lnTo>
                    <a:pt x="6975221" y="2758246"/>
                  </a:lnTo>
                  <a:cubicBezTo>
                    <a:pt x="6975221" y="2865056"/>
                    <a:pt x="6909053" y="2951730"/>
                    <a:pt x="6827520" y="2951730"/>
                  </a:cubicBezTo>
                  <a:lnTo>
                    <a:pt x="147701" y="2951730"/>
                  </a:lnTo>
                  <a:cubicBezTo>
                    <a:pt x="66167" y="2951730"/>
                    <a:pt x="0" y="2865056"/>
                    <a:pt x="0" y="275824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522965" y="2639730"/>
            <a:ext cx="595589" cy="595589"/>
            <a:chOff x="0" y="0"/>
            <a:chExt cx="794118" cy="79411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573676" y="2786529"/>
            <a:ext cx="494167" cy="351940"/>
            <a:chOff x="0" y="0"/>
            <a:chExt cx="658889" cy="46925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246284" y="2635529"/>
            <a:ext cx="4008206" cy="466895"/>
            <a:chOff x="0" y="0"/>
            <a:chExt cx="5344274" cy="62252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44271" cy="622530"/>
            </a:xfrm>
            <a:custGeom>
              <a:avLst/>
              <a:gdLst/>
              <a:ahLst/>
              <a:cxnLst/>
              <a:rect r="r" b="b" t="t" l="l"/>
              <a:pathLst>
                <a:path h="62253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54" r="0" b="-10549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344274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Unique Rules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532624" y="3179407"/>
            <a:ext cx="472174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name, doctor phone, and patient phone are kept unique to avoid duplicates.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31709" y="4922660"/>
            <a:ext cx="5231406" cy="1910756"/>
            <a:chOff x="0" y="0"/>
            <a:chExt cx="6975208" cy="254767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75221" cy="2547687"/>
            </a:xfrm>
            <a:custGeom>
              <a:avLst/>
              <a:gdLst/>
              <a:ahLst/>
              <a:cxnLst/>
              <a:rect r="r" b="b" t="t" l="l"/>
              <a:pathLst>
                <a:path h="2547687" w="6975221">
                  <a:moveTo>
                    <a:pt x="0" y="167003"/>
                  </a:moveTo>
                  <a:cubicBezTo>
                    <a:pt x="0" y="74814"/>
                    <a:pt x="66167" y="0"/>
                    <a:pt x="147701" y="0"/>
                  </a:cubicBezTo>
                  <a:lnTo>
                    <a:pt x="6827520" y="0"/>
                  </a:lnTo>
                  <a:cubicBezTo>
                    <a:pt x="6909053" y="0"/>
                    <a:pt x="6975221" y="74814"/>
                    <a:pt x="6975221" y="167003"/>
                  </a:cubicBezTo>
                  <a:lnTo>
                    <a:pt x="6975221" y="2380686"/>
                  </a:lnTo>
                  <a:cubicBezTo>
                    <a:pt x="6975221" y="2472875"/>
                    <a:pt x="6909053" y="2547687"/>
                    <a:pt x="6827520" y="2547687"/>
                  </a:cubicBezTo>
                  <a:lnTo>
                    <a:pt x="147701" y="2547687"/>
                  </a:lnTo>
                  <a:cubicBezTo>
                    <a:pt x="66167" y="2547687"/>
                    <a:pt x="0" y="2472875"/>
                    <a:pt x="0" y="238068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76882" y="5168456"/>
            <a:ext cx="595589" cy="595589"/>
            <a:chOff x="0" y="0"/>
            <a:chExt cx="794118" cy="79411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86541" y="5300488"/>
            <a:ext cx="494167" cy="351940"/>
            <a:chOff x="0" y="0"/>
            <a:chExt cx="658889" cy="46925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00077" y="5246510"/>
            <a:ext cx="4008206" cy="466895"/>
            <a:chOff x="0" y="0"/>
            <a:chExt cx="5344274" cy="62252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44271" cy="622530"/>
            </a:xfrm>
            <a:custGeom>
              <a:avLst/>
              <a:gdLst/>
              <a:ahLst/>
              <a:cxnLst/>
              <a:rect r="r" b="b" t="t" l="l"/>
              <a:pathLst>
                <a:path h="62253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54" r="0" b="-10549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5344274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Check Rules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086541" y="5928360"/>
            <a:ext cx="472174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End time after start time, non-negative cost, and valid birth dates.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6528297" y="4922660"/>
            <a:ext cx="5231406" cy="1910756"/>
            <a:chOff x="0" y="0"/>
            <a:chExt cx="6975208" cy="254767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975221" cy="2547687"/>
            </a:xfrm>
            <a:custGeom>
              <a:avLst/>
              <a:gdLst/>
              <a:ahLst/>
              <a:cxnLst/>
              <a:rect r="r" b="b" t="t" l="l"/>
              <a:pathLst>
                <a:path h="2547687" w="6975221">
                  <a:moveTo>
                    <a:pt x="0" y="167003"/>
                  </a:moveTo>
                  <a:cubicBezTo>
                    <a:pt x="0" y="74814"/>
                    <a:pt x="66167" y="0"/>
                    <a:pt x="147701" y="0"/>
                  </a:cubicBezTo>
                  <a:lnTo>
                    <a:pt x="6827520" y="0"/>
                  </a:lnTo>
                  <a:cubicBezTo>
                    <a:pt x="6909053" y="0"/>
                    <a:pt x="6975221" y="74814"/>
                    <a:pt x="6975221" y="167003"/>
                  </a:cubicBezTo>
                  <a:lnTo>
                    <a:pt x="6975221" y="2380686"/>
                  </a:lnTo>
                  <a:cubicBezTo>
                    <a:pt x="6975221" y="2472875"/>
                    <a:pt x="6909053" y="2547687"/>
                    <a:pt x="6827520" y="2547687"/>
                  </a:cubicBezTo>
                  <a:lnTo>
                    <a:pt x="147701" y="2547687"/>
                  </a:lnTo>
                  <a:cubicBezTo>
                    <a:pt x="66167" y="2547687"/>
                    <a:pt x="0" y="2472875"/>
                    <a:pt x="0" y="238068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6773347" y="5147691"/>
            <a:ext cx="595589" cy="595589"/>
            <a:chOff x="0" y="0"/>
            <a:chExt cx="794118" cy="79411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6824058" y="5294490"/>
            <a:ext cx="494167" cy="351940"/>
            <a:chOff x="0" y="0"/>
            <a:chExt cx="658889" cy="46925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496666" y="5143500"/>
            <a:ext cx="4008206" cy="466895"/>
            <a:chOff x="0" y="0"/>
            <a:chExt cx="5344274" cy="62252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44271" cy="622530"/>
            </a:xfrm>
            <a:custGeom>
              <a:avLst/>
              <a:gdLst/>
              <a:ahLst/>
              <a:cxnLst/>
              <a:rect r="r" b="b" t="t" l="l"/>
              <a:pathLst>
                <a:path h="62253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54" r="0" b="-10549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5344274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ENUM Status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6783129" y="5928360"/>
            <a:ext cx="472174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Limits status to scheduled, completed, in_progress, postponed, and cancelled.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224885" y="4922660"/>
            <a:ext cx="5231406" cy="1910756"/>
            <a:chOff x="0" y="0"/>
            <a:chExt cx="6975208" cy="254767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975221" cy="2547687"/>
            </a:xfrm>
            <a:custGeom>
              <a:avLst/>
              <a:gdLst/>
              <a:ahLst/>
              <a:cxnLst/>
              <a:rect r="r" b="b" t="t" l="l"/>
              <a:pathLst>
                <a:path h="2547687" w="6975221">
                  <a:moveTo>
                    <a:pt x="0" y="167003"/>
                  </a:moveTo>
                  <a:cubicBezTo>
                    <a:pt x="0" y="74814"/>
                    <a:pt x="66167" y="0"/>
                    <a:pt x="147701" y="0"/>
                  </a:cubicBezTo>
                  <a:lnTo>
                    <a:pt x="6827520" y="0"/>
                  </a:lnTo>
                  <a:cubicBezTo>
                    <a:pt x="6909053" y="0"/>
                    <a:pt x="6975221" y="74814"/>
                    <a:pt x="6975221" y="167003"/>
                  </a:cubicBezTo>
                  <a:lnTo>
                    <a:pt x="6975221" y="2380686"/>
                  </a:lnTo>
                  <a:cubicBezTo>
                    <a:pt x="6975221" y="2472875"/>
                    <a:pt x="6909053" y="2547687"/>
                    <a:pt x="6827520" y="2547687"/>
                  </a:cubicBezTo>
                  <a:lnTo>
                    <a:pt x="147701" y="2547687"/>
                  </a:lnTo>
                  <a:cubicBezTo>
                    <a:pt x="66167" y="2547687"/>
                    <a:pt x="0" y="2472875"/>
                    <a:pt x="0" y="238068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2469935" y="5147691"/>
            <a:ext cx="595589" cy="595589"/>
            <a:chOff x="0" y="0"/>
            <a:chExt cx="794118" cy="79411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2520646" y="5294490"/>
            <a:ext cx="494167" cy="351940"/>
            <a:chOff x="0" y="0"/>
            <a:chExt cx="658889" cy="46925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06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189348" y="5246510"/>
            <a:ext cx="4008206" cy="466895"/>
            <a:chOff x="0" y="0"/>
            <a:chExt cx="5344274" cy="62252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344271" cy="622530"/>
            </a:xfrm>
            <a:custGeom>
              <a:avLst/>
              <a:gdLst/>
              <a:ahLst/>
              <a:cxnLst/>
              <a:rect r="r" b="b" t="t" l="l"/>
              <a:pathLst>
                <a:path h="622530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54" r="0" b="-10549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5344274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 </a:t>
              </a: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DELETE RESTRICT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2350082" y="5928360"/>
            <a:ext cx="515911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Protects medical history by preventing accidental deletion of doctors or related records.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884615" y="7198900"/>
            <a:ext cx="16761857" cy="1319289"/>
            <a:chOff x="0" y="0"/>
            <a:chExt cx="22349142" cy="17590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349079" cy="1758950"/>
            </a:xfrm>
            <a:custGeom>
              <a:avLst/>
              <a:gdLst/>
              <a:ahLst/>
              <a:cxnLst/>
              <a:rect r="r" b="b" t="t" l="l"/>
              <a:pathLst>
                <a:path h="1758950" w="22349079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22200997" y="0"/>
                  </a:lnTo>
                  <a:cubicBezTo>
                    <a:pt x="22282786" y="0"/>
                    <a:pt x="22349079" y="66294"/>
                    <a:pt x="22349079" y="148082"/>
                  </a:cubicBezTo>
                  <a:lnTo>
                    <a:pt x="22349079" y="1610868"/>
                  </a:lnTo>
                  <a:cubicBezTo>
                    <a:pt x="22349079" y="1692656"/>
                    <a:pt x="22282786" y="1758950"/>
                    <a:pt x="22200997" y="1758950"/>
                  </a:cubicBezTo>
                  <a:lnTo>
                    <a:pt x="148082" y="1758950"/>
                  </a:lnTo>
                  <a:cubicBezTo>
                    <a:pt x="66294" y="1759077"/>
                    <a:pt x="0" y="1692783"/>
                    <a:pt x="0" y="1610868"/>
                  </a:cubicBezTo>
                  <a:close/>
                </a:path>
              </a:pathLst>
            </a:custGeom>
            <a:solidFill>
              <a:srgbClr val="E8F7F7"/>
            </a:solidFill>
            <a:ln w="15252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372676" y="7522245"/>
            <a:ext cx="3019882" cy="440537"/>
            <a:chOff x="0" y="0"/>
            <a:chExt cx="4026510" cy="58738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026506" cy="587383"/>
            </a:xfrm>
            <a:custGeom>
              <a:avLst/>
              <a:gdLst/>
              <a:ahLst/>
              <a:cxnLst/>
              <a:rect r="r" b="b" t="t" l="l"/>
              <a:pathLst>
                <a:path h="587383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587383"/>
                  </a:lnTo>
                  <a:lnTo>
                    <a:pt x="0" y="5873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78" r="0" b="-7096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4026510" cy="606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1"/>
                </a:lnSpc>
              </a:pPr>
              <a:r>
                <a:rPr lang="en-US" sz="220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design choices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4074593" y="7376341"/>
            <a:ext cx="12491323" cy="1195986"/>
            <a:chOff x="0" y="0"/>
            <a:chExt cx="16655098" cy="15946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6655092" cy="1594639"/>
            </a:xfrm>
            <a:custGeom>
              <a:avLst/>
              <a:gdLst/>
              <a:ahLst/>
              <a:cxnLst/>
              <a:rect r="r" b="b" t="t" l="l"/>
              <a:pathLst>
                <a:path h="1594639" w="16655092">
                  <a:moveTo>
                    <a:pt x="0" y="0"/>
                  </a:moveTo>
                  <a:lnTo>
                    <a:pt x="16655092" y="0"/>
                  </a:lnTo>
                  <a:lnTo>
                    <a:pt x="16655092" y="1594639"/>
                  </a:lnTo>
                  <a:lnTo>
                    <a:pt x="0" y="15946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93" r="0" b="-12072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6655098" cy="1613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03980" indent="-201990" lvl="1">
                <a:lnSpc>
                  <a:spcPts val="2245"/>
                </a:lnSpc>
                <a:buFont typeface="Arial"/>
                <a:buChar char="•"/>
              </a:pPr>
              <a:r>
                <a:rPr lang="en-US" b="true" sz="1871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Doctors are linked to departments because specialty is more important than clinic location.</a:t>
              </a:r>
            </a:p>
            <a:p>
              <a:pPr algn="l" marL="403980" indent="-201990" lvl="1">
                <a:lnSpc>
                  <a:spcPts val="2245"/>
                </a:lnSpc>
                <a:buFont typeface="Arial"/>
                <a:buChar char="•"/>
              </a:pPr>
              <a:r>
                <a:rPr lang="en-US" b="true" sz="1871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Surrogate integer primary keys were used because names and phone numbers can change.</a:t>
              </a:r>
            </a:p>
            <a:p>
              <a:pPr algn="l" marL="403980" indent="-201990" lvl="1">
                <a:lnSpc>
                  <a:spcPts val="2245"/>
                </a:lnSpc>
                <a:buFont typeface="Arial"/>
                <a:buChar char="•"/>
              </a:pPr>
              <a:r>
                <a:rPr lang="en-US" b="true" sz="1871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Diagnosis allows NULL because it is added after consultation.</a:t>
              </a:r>
            </a:p>
            <a:p>
              <a:pPr algn="l">
                <a:lnSpc>
                  <a:spcPts val="2245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6952500" y="9581255"/>
            <a:ext cx="686333" cy="251389"/>
            <a:chOff x="0" y="0"/>
            <a:chExt cx="915111" cy="33518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5115" cy="335189"/>
            </a:xfrm>
            <a:custGeom>
              <a:avLst/>
              <a:gdLst/>
              <a:ahLst/>
              <a:cxnLst/>
              <a:rect r="r" b="b" t="t" l="l"/>
              <a:pathLst>
                <a:path h="33518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35189"/>
                  </a:lnTo>
                  <a:lnTo>
                    <a:pt x="0" y="3351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54" r="0" b="-233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915111" cy="354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00"/>
                </a:lnSpc>
              </a:pPr>
              <a:r>
                <a:rPr lang="en-US" sz="12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077" y="0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4805793" y="-1734903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438131"/>
            <a:chOff x="0" y="0"/>
            <a:chExt cx="9883242" cy="584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584173"/>
            </a:xfrm>
            <a:custGeom>
              <a:avLst/>
              <a:gdLst/>
              <a:ahLst/>
              <a:cxnLst/>
              <a:rect r="r" b="b" t="t" l="l"/>
              <a:pathLst>
                <a:path h="584173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584173"/>
                  </a:lnTo>
                  <a:lnTo>
                    <a:pt x="0" y="584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24" r="0" b="-2656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83242" cy="6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</a:t>
              </a: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porting Layer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4418125" cy="780547"/>
            <a:chOff x="0" y="0"/>
            <a:chExt cx="5890833" cy="1040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90837" cy="1040729"/>
            </a:xfrm>
            <a:custGeom>
              <a:avLst/>
              <a:gdLst/>
              <a:ahLst/>
              <a:cxnLst/>
              <a:rect r="r" b="b" t="t" l="l"/>
              <a:pathLst>
                <a:path h="1040729" w="5890837">
                  <a:moveTo>
                    <a:pt x="0" y="0"/>
                  </a:moveTo>
                  <a:lnTo>
                    <a:pt x="5890837" y="0"/>
                  </a:lnTo>
                  <a:lnTo>
                    <a:pt x="5890837" y="1040729"/>
                  </a:lnTo>
                  <a:lnTo>
                    <a:pt x="0" y="1040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43" r="-192049" b="-2704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890833" cy="106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Views &amp; Reporting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128171" y="1095232"/>
            <a:ext cx="5162769" cy="2799502"/>
            <a:chOff x="0" y="0"/>
            <a:chExt cx="6883692" cy="373266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883692" cy="3223235"/>
              <a:chOff x="0" y="0"/>
              <a:chExt cx="6883692" cy="322323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883653" cy="3223260"/>
              </a:xfrm>
              <a:custGeom>
                <a:avLst/>
                <a:gdLst/>
                <a:ahLst/>
                <a:cxnLst/>
                <a:rect r="r" b="b" t="t" l="l"/>
                <a:pathLst>
                  <a:path h="3223260" w="6883653">
                    <a:moveTo>
                      <a:pt x="0" y="147320"/>
                    </a:moveTo>
                    <a:cubicBezTo>
                      <a:pt x="0" y="65913"/>
                      <a:pt x="65913" y="0"/>
                      <a:pt x="147320" y="0"/>
                    </a:cubicBezTo>
                    <a:lnTo>
                      <a:pt x="6736334" y="0"/>
                    </a:lnTo>
                    <a:cubicBezTo>
                      <a:pt x="6817740" y="0"/>
                      <a:pt x="6883653" y="65913"/>
                      <a:pt x="6883653" y="147320"/>
                    </a:cubicBezTo>
                    <a:lnTo>
                      <a:pt x="6883653" y="3075940"/>
                    </a:lnTo>
                    <a:cubicBezTo>
                      <a:pt x="6883653" y="3157347"/>
                      <a:pt x="6817740" y="3223260"/>
                      <a:pt x="6736334" y="3223260"/>
                    </a:cubicBezTo>
                    <a:lnTo>
                      <a:pt x="147320" y="3223260"/>
                    </a:lnTo>
                    <a:cubicBezTo>
                      <a:pt x="65913" y="3223260"/>
                      <a:pt x="0" y="3157220"/>
                      <a:pt x="0" y="30759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52" cap="sq">
                <a:solidFill>
                  <a:srgbClr val="E8EEF2"/>
                </a:solidFill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29794" y="229794"/>
              <a:ext cx="6424104" cy="2763647"/>
              <a:chOff x="0" y="0"/>
              <a:chExt cx="6424104" cy="2763647"/>
            </a:xfrm>
          </p:grpSpPr>
          <p:sp>
            <p:nvSpPr>
              <p:cNvPr name="Freeform 23" id="23" descr="/mnt/data/report2_media_trim/image6.png"/>
              <p:cNvSpPr/>
              <p:nvPr/>
            </p:nvSpPr>
            <p:spPr>
              <a:xfrm flipH="false" flipV="false" rot="0">
                <a:off x="0" y="0"/>
                <a:ext cx="6424168" cy="2763647"/>
              </a:xfrm>
              <a:custGeom>
                <a:avLst/>
                <a:gdLst/>
                <a:ahLst/>
                <a:cxnLst/>
                <a:rect r="r" b="b" t="t" l="l"/>
                <a:pathLst>
                  <a:path h="2763647" w="6424168">
                    <a:moveTo>
                      <a:pt x="0" y="0"/>
                    </a:moveTo>
                    <a:lnTo>
                      <a:pt x="6424168" y="0"/>
                    </a:lnTo>
                    <a:lnTo>
                      <a:pt x="6424168" y="2763647"/>
                    </a:lnTo>
                    <a:lnTo>
                      <a:pt x="0" y="276364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15209" b="0"/>
                </a:stretch>
              </a:blip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160" y="3304578"/>
              <a:ext cx="6863359" cy="428091"/>
              <a:chOff x="0" y="0"/>
              <a:chExt cx="6863359" cy="42809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863362" cy="428095"/>
              </a:xfrm>
              <a:custGeom>
                <a:avLst/>
                <a:gdLst/>
                <a:ahLst/>
                <a:cxnLst/>
                <a:rect r="r" b="b" t="t" l="l"/>
                <a:pathLst>
                  <a:path h="428095" w="6863362">
                    <a:moveTo>
                      <a:pt x="0" y="0"/>
                    </a:moveTo>
                    <a:lnTo>
                      <a:pt x="6863362" y="0"/>
                    </a:lnTo>
                    <a:lnTo>
                      <a:pt x="6863362" y="428095"/>
                    </a:lnTo>
                    <a:lnTo>
                      <a:pt x="0" y="42809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3913" r="0" b="-250868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6863359" cy="42809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71"/>
                  </a:lnSpc>
                </a:pPr>
                <a:r>
                  <a:rPr lang="en-US" b="true" sz="1725" i="true">
                    <a:solidFill>
                      <a:srgbClr val="5B6B73"/>
                    </a:solidFill>
                    <a:latin typeface="Aptos Bold Italics"/>
                    <a:ea typeface="Aptos Bold Italics"/>
                    <a:cs typeface="Aptos Bold Italics"/>
                    <a:sym typeface="Aptos Bold Italics"/>
                  </a:rPr>
                  <a:t>Five database views</a:t>
                </a: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595303" y="1692763"/>
            <a:ext cx="8536215" cy="2516296"/>
            <a:chOff x="0" y="0"/>
            <a:chExt cx="11381620" cy="335506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1381620" cy="3355061"/>
              <a:chOff x="0" y="0"/>
              <a:chExt cx="11381620" cy="335506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1381646" cy="3355086"/>
              </a:xfrm>
              <a:custGeom>
                <a:avLst/>
                <a:gdLst/>
                <a:ahLst/>
                <a:cxnLst/>
                <a:rect r="r" b="b" t="t" l="l"/>
                <a:pathLst>
                  <a:path h="3355086" w="11381646">
                    <a:moveTo>
                      <a:pt x="0" y="153345"/>
                    </a:moveTo>
                    <a:cubicBezTo>
                      <a:pt x="0" y="68609"/>
                      <a:pt x="53156" y="0"/>
                      <a:pt x="118807" y="0"/>
                    </a:cubicBezTo>
                    <a:lnTo>
                      <a:pt x="11262833" y="0"/>
                    </a:lnTo>
                    <a:cubicBezTo>
                      <a:pt x="11328485" y="0"/>
                      <a:pt x="11381646" y="68609"/>
                      <a:pt x="11381646" y="153345"/>
                    </a:cubicBezTo>
                    <a:lnTo>
                      <a:pt x="11381646" y="3201742"/>
                    </a:lnTo>
                    <a:cubicBezTo>
                      <a:pt x="11381646" y="3286478"/>
                      <a:pt x="11328485" y="3355086"/>
                      <a:pt x="11262833" y="3355086"/>
                    </a:cubicBezTo>
                    <a:lnTo>
                      <a:pt x="118807" y="3355086"/>
                    </a:lnTo>
                    <a:cubicBezTo>
                      <a:pt x="53156" y="3355086"/>
                      <a:pt x="0" y="3286347"/>
                      <a:pt x="0" y="32017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52" cap="sq">
                <a:solidFill>
                  <a:srgbClr val="E8EEF2"/>
                </a:solidFill>
                <a:prstDash val="solid"/>
                <a:miter/>
              </a:ln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03638" y="447271"/>
              <a:ext cx="7320915" cy="697104"/>
              <a:chOff x="0" y="0"/>
              <a:chExt cx="7320915" cy="69710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320920" cy="697104"/>
              </a:xfrm>
              <a:custGeom>
                <a:avLst/>
                <a:gdLst/>
                <a:ahLst/>
                <a:cxnLst/>
                <a:rect r="r" b="b" t="t" l="l"/>
                <a:pathLst>
                  <a:path h="697104" w="7320920">
                    <a:moveTo>
                      <a:pt x="0" y="0"/>
                    </a:moveTo>
                    <a:lnTo>
                      <a:pt x="7320920" y="0"/>
                    </a:lnTo>
                    <a:lnTo>
                      <a:pt x="7320920" y="697104"/>
                    </a:lnTo>
                    <a:lnTo>
                      <a:pt x="0" y="69710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3124" r="0" b="-136135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7320915" cy="69710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62"/>
                  </a:lnSpc>
                </a:pPr>
                <a:r>
                  <a:rPr lang="en-US" sz="2801" b="true">
                    <a:solidFill>
                      <a:srgbClr val="0F2E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Why views were created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03638" y="1075636"/>
              <a:ext cx="10346639" cy="1360777"/>
              <a:chOff x="0" y="0"/>
              <a:chExt cx="10346639" cy="136077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0346641" cy="1360782"/>
              </a:xfrm>
              <a:custGeom>
                <a:avLst/>
                <a:gdLst/>
                <a:ahLst/>
                <a:cxnLst/>
                <a:rect r="r" b="b" t="t" l="l"/>
                <a:pathLst>
                  <a:path h="1360782" w="10346641">
                    <a:moveTo>
                      <a:pt x="0" y="0"/>
                    </a:moveTo>
                    <a:lnTo>
                      <a:pt x="10346641" y="0"/>
                    </a:lnTo>
                    <a:lnTo>
                      <a:pt x="10346641" y="1360782"/>
                    </a:lnTo>
                    <a:lnTo>
                      <a:pt x="0" y="136078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9429" r="-16748" b="-96503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0346639" cy="13703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15"/>
                  </a:lnSpc>
                </a:pPr>
                <a:r>
                  <a:rPr lang="en-US" sz="2096" b="true">
                    <a:solidFill>
                      <a:srgbClr val="5B6B73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Views simplify long JOIN queries and provide ready-to-read reports for reception, doctors, administrators, and financial reporting.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6914813" y="7041153"/>
            <a:ext cx="6741347" cy="2936776"/>
            <a:chOff x="0" y="0"/>
            <a:chExt cx="8988463" cy="3915702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8988463" cy="3406267"/>
              <a:chOff x="0" y="0"/>
              <a:chExt cx="8988463" cy="340626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988551" cy="3406267"/>
              </a:xfrm>
              <a:custGeom>
                <a:avLst/>
                <a:gdLst/>
                <a:ahLst/>
                <a:cxnLst/>
                <a:rect r="r" b="b" t="t" l="l"/>
                <a:pathLst>
                  <a:path h="3406267" w="8988551">
                    <a:moveTo>
                      <a:pt x="0" y="147320"/>
                    </a:moveTo>
                    <a:cubicBezTo>
                      <a:pt x="0" y="65913"/>
                      <a:pt x="65913" y="0"/>
                      <a:pt x="147320" y="0"/>
                    </a:cubicBezTo>
                    <a:lnTo>
                      <a:pt x="8841232" y="0"/>
                    </a:lnTo>
                    <a:cubicBezTo>
                      <a:pt x="8922638" y="0"/>
                      <a:pt x="8988551" y="65913"/>
                      <a:pt x="8988551" y="147320"/>
                    </a:cubicBezTo>
                    <a:lnTo>
                      <a:pt x="8988551" y="3258947"/>
                    </a:lnTo>
                    <a:cubicBezTo>
                      <a:pt x="8988551" y="3340354"/>
                      <a:pt x="8922638" y="3406267"/>
                      <a:pt x="8841232" y="3406267"/>
                    </a:cubicBezTo>
                    <a:lnTo>
                      <a:pt x="147320" y="3406267"/>
                    </a:lnTo>
                    <a:cubicBezTo>
                      <a:pt x="65913" y="3406267"/>
                      <a:pt x="0" y="3340354"/>
                      <a:pt x="0" y="32589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52" cap="sq">
                <a:solidFill>
                  <a:srgbClr val="E8EEF2"/>
                </a:solidFill>
                <a:prstDash val="solid"/>
                <a:miter/>
              </a:ln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156578" y="156591"/>
              <a:ext cx="8675294" cy="3093085"/>
              <a:chOff x="0" y="0"/>
              <a:chExt cx="8675294" cy="3093085"/>
            </a:xfrm>
          </p:grpSpPr>
          <p:sp>
            <p:nvSpPr>
              <p:cNvPr name="Freeform 40" id="40" descr="/mnt/data/report2_media_trim/imageb.png"/>
              <p:cNvSpPr/>
              <p:nvPr/>
            </p:nvSpPr>
            <p:spPr>
              <a:xfrm flipH="false" flipV="false" rot="0">
                <a:off x="0" y="0"/>
                <a:ext cx="8675243" cy="3093085"/>
              </a:xfrm>
              <a:custGeom>
                <a:avLst/>
                <a:gdLst/>
                <a:ahLst/>
                <a:cxnLst/>
                <a:rect r="r" b="b" t="t" l="l"/>
                <a:pathLst>
                  <a:path h="3093085" w="8675243">
                    <a:moveTo>
                      <a:pt x="0" y="0"/>
                    </a:moveTo>
                    <a:lnTo>
                      <a:pt x="8675243" y="0"/>
                    </a:lnTo>
                    <a:lnTo>
                      <a:pt x="8675243" y="3093085"/>
                    </a:lnTo>
                    <a:lnTo>
                      <a:pt x="0" y="30930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-8725"/>
                </a:stretch>
              </a:blip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0160" y="3487610"/>
              <a:ext cx="8968130" cy="428091"/>
              <a:chOff x="0" y="0"/>
              <a:chExt cx="8968130" cy="42809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968126" cy="428095"/>
              </a:xfrm>
              <a:custGeom>
                <a:avLst/>
                <a:gdLst/>
                <a:ahLst/>
                <a:cxnLst/>
                <a:rect r="r" b="b" t="t" l="l"/>
                <a:pathLst>
                  <a:path h="428095" w="8968126">
                    <a:moveTo>
                      <a:pt x="0" y="0"/>
                    </a:moveTo>
                    <a:lnTo>
                      <a:pt x="8968126" y="0"/>
                    </a:lnTo>
                    <a:lnTo>
                      <a:pt x="8968126" y="428095"/>
                    </a:lnTo>
                    <a:lnTo>
                      <a:pt x="0" y="42809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69713" r="0" b="-346668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0"/>
                <a:ext cx="8968130" cy="42809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071"/>
                  </a:lnSpc>
                </a:pPr>
                <a:r>
                  <a:rPr lang="en-US" b="true" sz="1725" i="true">
                    <a:solidFill>
                      <a:srgbClr val="5B6B73"/>
                    </a:solidFill>
                    <a:latin typeface="Aptos Bold Italics"/>
                    <a:ea typeface="Aptos Bold Italics"/>
                    <a:cs typeface="Aptos Bold Italics"/>
                    <a:sym typeface="Aptos Bold Italics"/>
                  </a:rPr>
                  <a:t>Revenue summary query output</a:t>
                </a: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0">
            <a:off x="527909" y="4031757"/>
            <a:ext cx="3577029" cy="3009395"/>
            <a:chOff x="0" y="0"/>
            <a:chExt cx="4769373" cy="4012527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4325267" cy="3679927"/>
              <a:chOff x="0" y="0"/>
              <a:chExt cx="4003616" cy="340626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4003616" cy="3406267"/>
              </a:xfrm>
              <a:custGeom>
                <a:avLst/>
                <a:gdLst/>
                <a:ahLst/>
                <a:cxnLst/>
                <a:rect r="r" b="b" t="t" l="l"/>
                <a:pathLst>
                  <a:path h="3406267" w="4003616">
                    <a:moveTo>
                      <a:pt x="0" y="147320"/>
                    </a:moveTo>
                    <a:cubicBezTo>
                      <a:pt x="0" y="65913"/>
                      <a:pt x="77472" y="0"/>
                      <a:pt x="173155" y="0"/>
                    </a:cubicBezTo>
                    <a:lnTo>
                      <a:pt x="3830461" y="0"/>
                    </a:lnTo>
                    <a:cubicBezTo>
                      <a:pt x="3926144" y="0"/>
                      <a:pt x="4003616" y="65913"/>
                      <a:pt x="4003616" y="147320"/>
                    </a:cubicBezTo>
                    <a:lnTo>
                      <a:pt x="4003616" y="3258947"/>
                    </a:lnTo>
                    <a:cubicBezTo>
                      <a:pt x="4003616" y="3340354"/>
                      <a:pt x="3926144" y="3406267"/>
                      <a:pt x="3830461" y="3406267"/>
                    </a:cubicBezTo>
                    <a:lnTo>
                      <a:pt x="173155" y="3406267"/>
                    </a:lnTo>
                    <a:cubicBezTo>
                      <a:pt x="77472" y="3406267"/>
                      <a:pt x="0" y="3340354"/>
                      <a:pt x="0" y="32589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52" cap="sq">
                <a:solidFill>
                  <a:srgbClr val="E8EEF2"/>
                </a:solidFill>
                <a:prstDash val="solid"/>
                <a:miter/>
              </a:ln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202271" y="109440"/>
              <a:ext cx="933381" cy="794118"/>
              <a:chOff x="0" y="0"/>
              <a:chExt cx="933381" cy="794118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933247" cy="794004"/>
              </a:xfrm>
              <a:custGeom>
                <a:avLst/>
                <a:gdLst/>
                <a:ahLst/>
                <a:cxnLst/>
                <a:rect r="r" b="b" t="t" l="l"/>
                <a:pathLst>
                  <a:path h="794004" w="933247">
                    <a:moveTo>
                      <a:pt x="0" y="94488"/>
                    </a:moveTo>
                    <a:cubicBezTo>
                      <a:pt x="0" y="42291"/>
                      <a:pt x="49707" y="0"/>
                      <a:pt x="111058" y="0"/>
                    </a:cubicBezTo>
                    <a:lnTo>
                      <a:pt x="822189" y="0"/>
                    </a:lnTo>
                    <a:cubicBezTo>
                      <a:pt x="883539" y="0"/>
                      <a:pt x="933247" y="42291"/>
                      <a:pt x="933247" y="94488"/>
                    </a:cubicBezTo>
                    <a:lnTo>
                      <a:pt x="933247" y="699516"/>
                    </a:lnTo>
                    <a:cubicBezTo>
                      <a:pt x="933247" y="751713"/>
                      <a:pt x="883539" y="794004"/>
                      <a:pt x="822189" y="794004"/>
                    </a:cubicBezTo>
                    <a:lnTo>
                      <a:pt x="111058" y="794004"/>
                    </a:lnTo>
                    <a:cubicBezTo>
                      <a:pt x="49707" y="794131"/>
                      <a:pt x="0" y="751840"/>
                      <a:pt x="0" y="699516"/>
                    </a:cubicBezTo>
                    <a:close/>
                  </a:path>
                </a:pathLst>
              </a:custGeom>
              <a:solidFill>
                <a:srgbClr val="E8F7F7"/>
              </a:solidFill>
              <a:ln w="19065" cap="sq">
                <a:solidFill>
                  <a:srgbClr val="E8F7F7"/>
                </a:solidFill>
                <a:prstDash val="solid"/>
                <a:miter/>
              </a:ln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383347" y="285482"/>
              <a:ext cx="692060" cy="442034"/>
              <a:chOff x="0" y="0"/>
              <a:chExt cx="692060" cy="44203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92053" cy="442022"/>
              </a:xfrm>
              <a:custGeom>
                <a:avLst/>
                <a:gdLst/>
                <a:ahLst/>
                <a:cxnLst/>
                <a:rect r="r" b="b" t="t" l="l"/>
                <a:pathLst>
                  <a:path h="442022" w="692053">
                    <a:moveTo>
                      <a:pt x="0" y="0"/>
                    </a:moveTo>
                    <a:lnTo>
                      <a:pt x="692053" y="0"/>
                    </a:lnTo>
                    <a:lnTo>
                      <a:pt x="692053" y="442022"/>
                    </a:lnTo>
                    <a:lnTo>
                      <a:pt x="0" y="44202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200" r="4792" b="46110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9525"/>
                <a:ext cx="692060" cy="45155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01"/>
                  </a:lnSpc>
                </a:pPr>
                <a:r>
                  <a:rPr lang="en-US" sz="1751" b="true">
                    <a:solidFill>
                      <a:srgbClr val="008C8C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1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385428" y="48353"/>
              <a:ext cx="3383945" cy="1055874"/>
              <a:chOff x="0" y="0"/>
              <a:chExt cx="3383945" cy="105587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3383947" cy="1055878"/>
              </a:xfrm>
              <a:custGeom>
                <a:avLst/>
                <a:gdLst/>
                <a:ahLst/>
                <a:cxnLst/>
                <a:rect r="r" b="b" t="t" l="l"/>
                <a:pathLst>
                  <a:path h="1055878" w="3383947">
                    <a:moveTo>
                      <a:pt x="0" y="0"/>
                    </a:moveTo>
                    <a:lnTo>
                      <a:pt x="3383947" y="0"/>
                    </a:lnTo>
                    <a:lnTo>
                      <a:pt x="3383947" y="1055878"/>
                    </a:lnTo>
                    <a:lnTo>
                      <a:pt x="0" y="10558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7" r="47536" b="44704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3383945" cy="105587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21"/>
                  </a:lnSpc>
                </a:pPr>
                <a:r>
                  <a:rPr lang="en-US" sz="2351" b="true">
                    <a:solidFill>
                      <a:srgbClr val="0F2E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Appointment summary</a:t>
                </a: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202271" y="1326477"/>
              <a:ext cx="4370011" cy="2686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7"/>
                </a:lnSpc>
              </a:pPr>
              <a:r>
                <a:rPr lang="en-US" sz="193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vw_appointment_summary</a:t>
              </a:r>
            </a:p>
            <a:p>
              <a:pPr algn="l">
                <a:lnSpc>
                  <a:spcPts val="2317"/>
                </a:lnSpc>
              </a:pPr>
              <a:r>
                <a:rPr lang="en-US" sz="193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193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Readable appointment list with patient, doctor, department, cost, status, and diagnosis.</a:t>
              </a:r>
            </a:p>
            <a:p>
              <a:pPr algn="l">
                <a:lnSpc>
                  <a:spcPts val="2317"/>
                </a:lnSpc>
              </a:pPr>
            </a:p>
            <a:p>
              <a:pPr algn="l">
                <a:lnSpc>
                  <a:spcPts val="2317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931858" y="4117397"/>
            <a:ext cx="3284882" cy="2666581"/>
            <a:chOff x="0" y="0"/>
            <a:chExt cx="4379843" cy="3555442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4379843" cy="3555442"/>
              <a:chOff x="0" y="0"/>
              <a:chExt cx="4379843" cy="355544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379842" cy="3555442"/>
              </a:xfrm>
              <a:custGeom>
                <a:avLst/>
                <a:gdLst/>
                <a:ahLst/>
                <a:cxnLst/>
                <a:rect r="r" b="b" t="t" l="l"/>
                <a:pathLst>
                  <a:path h="3555442" w="4379842">
                    <a:moveTo>
                      <a:pt x="0" y="153772"/>
                    </a:moveTo>
                    <a:cubicBezTo>
                      <a:pt x="0" y="68800"/>
                      <a:pt x="84752" y="0"/>
                      <a:pt x="189427" y="0"/>
                    </a:cubicBezTo>
                    <a:lnTo>
                      <a:pt x="4190416" y="0"/>
                    </a:lnTo>
                    <a:cubicBezTo>
                      <a:pt x="4295090" y="0"/>
                      <a:pt x="4379842" y="68800"/>
                      <a:pt x="4379842" y="153772"/>
                    </a:cubicBezTo>
                    <a:lnTo>
                      <a:pt x="4379842" y="3401669"/>
                    </a:lnTo>
                    <a:cubicBezTo>
                      <a:pt x="4379842" y="3486642"/>
                      <a:pt x="4295090" y="3555442"/>
                      <a:pt x="4190416" y="3555442"/>
                    </a:cubicBezTo>
                    <a:lnTo>
                      <a:pt x="189427" y="3555442"/>
                    </a:lnTo>
                    <a:cubicBezTo>
                      <a:pt x="84752" y="3555442"/>
                      <a:pt x="0" y="3486642"/>
                      <a:pt x="0" y="34016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52" cap="sq">
                <a:solidFill>
                  <a:srgbClr val="E8EEF2"/>
                </a:solidFill>
                <a:prstDash val="solid"/>
                <a:miter/>
              </a:ln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237090" y="449004"/>
              <a:ext cx="1021092" cy="794118"/>
              <a:chOff x="0" y="0"/>
              <a:chExt cx="1021092" cy="794118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020945" cy="794004"/>
              </a:xfrm>
              <a:custGeom>
                <a:avLst/>
                <a:gdLst/>
                <a:ahLst/>
                <a:cxnLst/>
                <a:rect r="r" b="b" t="t" l="l"/>
                <a:pathLst>
                  <a:path h="794004" w="1020945">
                    <a:moveTo>
                      <a:pt x="0" y="94488"/>
                    </a:moveTo>
                    <a:cubicBezTo>
                      <a:pt x="0" y="42291"/>
                      <a:pt x="54379" y="0"/>
                      <a:pt x="121494" y="0"/>
                    </a:cubicBezTo>
                    <a:lnTo>
                      <a:pt x="899451" y="0"/>
                    </a:lnTo>
                    <a:cubicBezTo>
                      <a:pt x="966567" y="0"/>
                      <a:pt x="1020945" y="42291"/>
                      <a:pt x="1020945" y="94488"/>
                    </a:cubicBezTo>
                    <a:lnTo>
                      <a:pt x="1020945" y="699516"/>
                    </a:lnTo>
                    <a:cubicBezTo>
                      <a:pt x="1020945" y="751713"/>
                      <a:pt x="966567" y="794004"/>
                      <a:pt x="899451" y="794004"/>
                    </a:cubicBezTo>
                    <a:lnTo>
                      <a:pt x="121494" y="794004"/>
                    </a:lnTo>
                    <a:cubicBezTo>
                      <a:pt x="54379" y="794131"/>
                      <a:pt x="0" y="751840"/>
                      <a:pt x="0" y="699516"/>
                    </a:cubicBezTo>
                    <a:close/>
                  </a:path>
                </a:pathLst>
              </a:custGeom>
              <a:solidFill>
                <a:srgbClr val="E8F7F7"/>
              </a:solidFill>
              <a:ln w="19065" cap="sq">
                <a:solidFill>
                  <a:srgbClr val="E8F7F7"/>
                </a:solidFill>
                <a:prstDash val="solid"/>
                <a:miter/>
              </a:ln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324047" y="644737"/>
              <a:ext cx="847212" cy="442034"/>
              <a:chOff x="0" y="0"/>
              <a:chExt cx="847212" cy="44203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47204" cy="442022"/>
              </a:xfrm>
              <a:custGeom>
                <a:avLst/>
                <a:gdLst/>
                <a:ahLst/>
                <a:cxnLst/>
                <a:rect r="r" b="b" t="t" l="l"/>
                <a:pathLst>
                  <a:path h="442022" w="847204">
                    <a:moveTo>
                      <a:pt x="0" y="0"/>
                    </a:moveTo>
                    <a:lnTo>
                      <a:pt x="847204" y="0"/>
                    </a:lnTo>
                    <a:lnTo>
                      <a:pt x="847204" y="442022"/>
                    </a:lnTo>
                    <a:lnTo>
                      <a:pt x="0" y="44202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200" r="22227" b="46110"/>
                </a:stretch>
              </a:blip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9525"/>
                <a:ext cx="847212" cy="45155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01"/>
                  </a:lnSpc>
                </a:pPr>
                <a:r>
                  <a:rPr lang="en-US" sz="1751" b="true">
                    <a:solidFill>
                      <a:srgbClr val="008C8C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2</a:t>
                </a: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1477183" y="443416"/>
              <a:ext cx="2282740" cy="1055874"/>
              <a:chOff x="0" y="0"/>
              <a:chExt cx="2282740" cy="1055874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282743" cy="1055878"/>
              </a:xfrm>
              <a:custGeom>
                <a:avLst/>
                <a:gdLst/>
                <a:ahLst/>
                <a:cxnLst/>
                <a:rect r="r" b="b" t="t" l="l"/>
                <a:pathLst>
                  <a:path h="1055878" w="2282743">
                    <a:moveTo>
                      <a:pt x="0" y="0"/>
                    </a:moveTo>
                    <a:lnTo>
                      <a:pt x="2282743" y="0"/>
                    </a:lnTo>
                    <a:lnTo>
                      <a:pt x="2282743" y="1055878"/>
                    </a:lnTo>
                    <a:lnTo>
                      <a:pt x="0" y="10558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7" r="22228" b="44704"/>
                </a:stretch>
              </a:blip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0"/>
                <a:ext cx="2282740" cy="105587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21"/>
                  </a:lnSpc>
                </a:pPr>
                <a:r>
                  <a:rPr lang="en-US" sz="2351" b="true">
                    <a:solidFill>
                      <a:srgbClr val="0F2E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Patient history</a:t>
                </a: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177008" y="1806190"/>
              <a:ext cx="3942952" cy="1543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7"/>
                </a:lnSpc>
              </a:pPr>
              <a:r>
                <a:rPr lang="en-US" sz="193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vw_pat</a:t>
              </a:r>
              <a:r>
                <a:rPr lang="en-US" sz="193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ient_medical_history</a:t>
              </a:r>
            </a:p>
            <a:p>
              <a:pPr algn="l">
                <a:lnSpc>
                  <a:spcPts val="2317"/>
                </a:lnSpc>
              </a:pPr>
              <a:r>
                <a:rPr lang="en-US" sz="193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Patient profile with age, visits, payments, last visit, and latest diagnosis.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626315" y="4173337"/>
            <a:ext cx="3582391" cy="2554700"/>
            <a:chOff x="0" y="0"/>
            <a:chExt cx="4776521" cy="340626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76521" cy="3406267"/>
            </a:xfrm>
            <a:custGeom>
              <a:avLst/>
              <a:gdLst/>
              <a:ahLst/>
              <a:cxnLst/>
              <a:rect r="r" b="b" t="t" l="l"/>
              <a:pathLst>
                <a:path h="3406267" w="4776521">
                  <a:moveTo>
                    <a:pt x="0" y="147320"/>
                  </a:moveTo>
                  <a:cubicBezTo>
                    <a:pt x="0" y="65913"/>
                    <a:pt x="92428" y="0"/>
                    <a:pt x="206583" y="0"/>
                  </a:cubicBezTo>
                  <a:lnTo>
                    <a:pt x="4569937" y="0"/>
                  </a:lnTo>
                  <a:cubicBezTo>
                    <a:pt x="4684092" y="0"/>
                    <a:pt x="4776521" y="65913"/>
                    <a:pt x="4776521" y="147320"/>
                  </a:cubicBezTo>
                  <a:lnTo>
                    <a:pt x="4776521" y="3258947"/>
                  </a:lnTo>
                  <a:cubicBezTo>
                    <a:pt x="4776521" y="3340354"/>
                    <a:pt x="4684092" y="3406267"/>
                    <a:pt x="4569937" y="3406267"/>
                  </a:cubicBezTo>
                  <a:lnTo>
                    <a:pt x="206583" y="3406267"/>
                  </a:lnTo>
                  <a:cubicBezTo>
                    <a:pt x="92428" y="3406267"/>
                    <a:pt x="0" y="3340354"/>
                    <a:pt x="0" y="32589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7970116" y="4418511"/>
            <a:ext cx="835179" cy="595589"/>
            <a:chOff x="0" y="0"/>
            <a:chExt cx="1113572" cy="79411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13411" cy="794004"/>
            </a:xfrm>
            <a:custGeom>
              <a:avLst/>
              <a:gdLst/>
              <a:ahLst/>
              <a:cxnLst/>
              <a:rect r="r" b="b" t="t" l="l"/>
              <a:pathLst>
                <a:path h="794004" w="1113411">
                  <a:moveTo>
                    <a:pt x="0" y="94488"/>
                  </a:moveTo>
                  <a:cubicBezTo>
                    <a:pt x="0" y="42291"/>
                    <a:pt x="59304" y="0"/>
                    <a:pt x="132498" y="0"/>
                  </a:cubicBezTo>
                  <a:lnTo>
                    <a:pt x="980913" y="0"/>
                  </a:lnTo>
                  <a:cubicBezTo>
                    <a:pt x="1054108" y="0"/>
                    <a:pt x="1113411" y="42291"/>
                    <a:pt x="1113411" y="94488"/>
                  </a:cubicBezTo>
                  <a:lnTo>
                    <a:pt x="1113411" y="699516"/>
                  </a:lnTo>
                  <a:cubicBezTo>
                    <a:pt x="1113411" y="751713"/>
                    <a:pt x="1054108" y="794004"/>
                    <a:pt x="980913" y="794004"/>
                  </a:cubicBezTo>
                  <a:lnTo>
                    <a:pt x="132498" y="794004"/>
                  </a:lnTo>
                  <a:cubicBezTo>
                    <a:pt x="59304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8041226" y="4565310"/>
            <a:ext cx="692957" cy="351940"/>
            <a:chOff x="0" y="0"/>
            <a:chExt cx="923943" cy="46925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23934" cy="469240"/>
            </a:xfrm>
            <a:custGeom>
              <a:avLst/>
              <a:gdLst/>
              <a:ahLst/>
              <a:cxnLst/>
              <a:rect r="r" b="b" t="t" l="l"/>
              <a:pathLst>
                <a:path h="469240" w="923934">
                  <a:moveTo>
                    <a:pt x="0" y="0"/>
                  </a:moveTo>
                  <a:lnTo>
                    <a:pt x="923934" y="0"/>
                  </a:lnTo>
                  <a:lnTo>
                    <a:pt x="923934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28686" b="4923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923943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984407" y="4414320"/>
            <a:ext cx="1867115" cy="819320"/>
            <a:chOff x="0" y="0"/>
            <a:chExt cx="2489486" cy="109242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89489" cy="1092430"/>
            </a:xfrm>
            <a:custGeom>
              <a:avLst/>
              <a:gdLst/>
              <a:ahLst/>
              <a:cxnLst/>
              <a:rect r="r" b="b" t="t" l="l"/>
              <a:pathLst>
                <a:path h="1092430" w="2489489">
                  <a:moveTo>
                    <a:pt x="0" y="0"/>
                  </a:moveTo>
                  <a:lnTo>
                    <a:pt x="2489489" y="0"/>
                  </a:lnTo>
                  <a:lnTo>
                    <a:pt x="2489489" y="1092430"/>
                  </a:lnTo>
                  <a:lnTo>
                    <a:pt x="0" y="10924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5" r="28687" b="4655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2489486" cy="1111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Doctor schedule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7859841" y="5356155"/>
            <a:ext cx="286768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Upcoming and in-progress appointments for daily schedule management.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1618281" y="4229278"/>
            <a:ext cx="3672659" cy="2554700"/>
            <a:chOff x="0" y="0"/>
            <a:chExt cx="4896879" cy="340626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896981" cy="3406343"/>
            </a:xfrm>
            <a:custGeom>
              <a:avLst/>
              <a:gdLst/>
              <a:ahLst/>
              <a:cxnLst/>
              <a:rect r="r" b="b" t="t" l="l"/>
              <a:pathLst>
                <a:path h="3406343" w="4896981">
                  <a:moveTo>
                    <a:pt x="0" y="332453"/>
                  </a:moveTo>
                  <a:cubicBezTo>
                    <a:pt x="0" y="148737"/>
                    <a:pt x="62113" y="0"/>
                    <a:pt x="138834" y="0"/>
                  </a:cubicBezTo>
                  <a:lnTo>
                    <a:pt x="4758139" y="0"/>
                  </a:lnTo>
                  <a:cubicBezTo>
                    <a:pt x="4834742" y="0"/>
                    <a:pt x="4896981" y="148737"/>
                    <a:pt x="4896981" y="332453"/>
                  </a:cubicBezTo>
                  <a:lnTo>
                    <a:pt x="4896981" y="3073984"/>
                  </a:lnTo>
                  <a:cubicBezTo>
                    <a:pt x="4896981" y="3257417"/>
                    <a:pt x="4834860" y="3406343"/>
                    <a:pt x="4758139" y="3406343"/>
                  </a:cubicBezTo>
                  <a:lnTo>
                    <a:pt x="138834" y="3406343"/>
                  </a:lnTo>
                  <a:cubicBezTo>
                    <a:pt x="62113" y="3406153"/>
                    <a:pt x="0" y="3257417"/>
                    <a:pt x="0" y="307398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1739629" y="4494085"/>
            <a:ext cx="595589" cy="595589"/>
            <a:chOff x="0" y="0"/>
            <a:chExt cx="794118" cy="79411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1790340" y="4640884"/>
            <a:ext cx="494167" cy="351940"/>
            <a:chOff x="0" y="0"/>
            <a:chExt cx="658889" cy="46925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462948" y="4489894"/>
            <a:ext cx="2704167" cy="466895"/>
            <a:chOff x="0" y="0"/>
            <a:chExt cx="3605555" cy="62252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05553" cy="622530"/>
            </a:xfrm>
            <a:custGeom>
              <a:avLst/>
              <a:gdLst/>
              <a:ahLst/>
              <a:cxnLst/>
              <a:rect r="r" b="b" t="t" l="l"/>
              <a:pathLst>
                <a:path h="622530" w="3605553">
                  <a:moveTo>
                    <a:pt x="0" y="0"/>
                  </a:moveTo>
                  <a:lnTo>
                    <a:pt x="3605553" y="0"/>
                  </a:lnTo>
                  <a:lnTo>
                    <a:pt x="3605553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633" r="0" b="-5107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3605555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Revenue summary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1749288" y="5033772"/>
            <a:ext cx="318447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Appointment revenue grouped by department and doctor.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595303" y="7151200"/>
            <a:ext cx="4268107" cy="2425843"/>
            <a:chOff x="0" y="0"/>
            <a:chExt cx="5690810" cy="323445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690912" cy="3234534"/>
            </a:xfrm>
            <a:custGeom>
              <a:avLst/>
              <a:gdLst/>
              <a:ahLst/>
              <a:cxnLst/>
              <a:rect r="r" b="b" t="t" l="l"/>
              <a:pathLst>
                <a:path h="3234534" w="5690912">
                  <a:moveTo>
                    <a:pt x="0" y="315685"/>
                  </a:moveTo>
                  <a:cubicBezTo>
                    <a:pt x="0" y="141234"/>
                    <a:pt x="72184" y="0"/>
                    <a:pt x="161344" y="0"/>
                  </a:cubicBezTo>
                  <a:lnTo>
                    <a:pt x="5529577" y="0"/>
                  </a:lnTo>
                  <a:cubicBezTo>
                    <a:pt x="5618599" y="0"/>
                    <a:pt x="5690912" y="141234"/>
                    <a:pt x="5690912" y="315685"/>
                  </a:cubicBezTo>
                  <a:lnTo>
                    <a:pt x="5690912" y="2918935"/>
                  </a:lnTo>
                  <a:cubicBezTo>
                    <a:pt x="5690912" y="3093115"/>
                    <a:pt x="5618737" y="3234534"/>
                    <a:pt x="5529577" y="3234534"/>
                  </a:cubicBezTo>
                  <a:lnTo>
                    <a:pt x="161344" y="3234534"/>
                  </a:lnTo>
                  <a:cubicBezTo>
                    <a:pt x="72184" y="3234349"/>
                    <a:pt x="0" y="3093115"/>
                    <a:pt x="0" y="291893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818830" y="7373921"/>
            <a:ext cx="647262" cy="595589"/>
            <a:chOff x="0" y="0"/>
            <a:chExt cx="863016" cy="79411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62892" cy="794004"/>
            </a:xfrm>
            <a:custGeom>
              <a:avLst/>
              <a:gdLst/>
              <a:ahLst/>
              <a:cxnLst/>
              <a:rect r="r" b="b" t="t" l="l"/>
              <a:pathLst>
                <a:path h="794004" w="862892">
                  <a:moveTo>
                    <a:pt x="0" y="94488"/>
                  </a:moveTo>
                  <a:cubicBezTo>
                    <a:pt x="0" y="42291"/>
                    <a:pt x="45960" y="0"/>
                    <a:pt x="102686" y="0"/>
                  </a:cubicBezTo>
                  <a:lnTo>
                    <a:pt x="760206" y="0"/>
                  </a:lnTo>
                  <a:cubicBezTo>
                    <a:pt x="816932" y="0"/>
                    <a:pt x="862892" y="42291"/>
                    <a:pt x="862892" y="94488"/>
                  </a:cubicBezTo>
                  <a:lnTo>
                    <a:pt x="862892" y="699516"/>
                  </a:lnTo>
                  <a:cubicBezTo>
                    <a:pt x="862892" y="751713"/>
                    <a:pt x="816932" y="794004"/>
                    <a:pt x="760206" y="794004"/>
                  </a:cubicBezTo>
                  <a:lnTo>
                    <a:pt x="102686" y="794004"/>
                  </a:lnTo>
                  <a:cubicBezTo>
                    <a:pt x="45960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873941" y="7520720"/>
            <a:ext cx="537041" cy="351940"/>
            <a:chOff x="0" y="0"/>
            <a:chExt cx="716054" cy="46925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16048" cy="469240"/>
            </a:xfrm>
            <a:custGeom>
              <a:avLst/>
              <a:gdLst/>
              <a:ahLst/>
              <a:cxnLst/>
              <a:rect r="r" b="b" t="t" l="l"/>
              <a:pathLst>
                <a:path h="469240" w="716048">
                  <a:moveTo>
                    <a:pt x="0" y="0"/>
                  </a:moveTo>
                  <a:lnTo>
                    <a:pt x="716048" y="0"/>
                  </a:lnTo>
                  <a:lnTo>
                    <a:pt x="716048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7982" b="4923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716054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87991" y="7493949"/>
            <a:ext cx="3215588" cy="466895"/>
            <a:chOff x="0" y="0"/>
            <a:chExt cx="4287451" cy="62252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287448" cy="622530"/>
            </a:xfrm>
            <a:custGeom>
              <a:avLst/>
              <a:gdLst/>
              <a:ahLst/>
              <a:cxnLst/>
              <a:rect r="r" b="b" t="t" l="l"/>
              <a:pathLst>
                <a:path h="622530" w="4287448">
                  <a:moveTo>
                    <a:pt x="0" y="0"/>
                  </a:moveTo>
                  <a:lnTo>
                    <a:pt x="4287448" y="0"/>
                  </a:lnTo>
                  <a:lnTo>
                    <a:pt x="4287448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633" r="15904" b="-5107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4287451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Postponed follow-up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587991" y="8133455"/>
            <a:ext cx="3072417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Postponed appointments with patient contact information for rescheduling.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6952500" y="9581255"/>
            <a:ext cx="686333" cy="289700"/>
            <a:chOff x="0" y="0"/>
            <a:chExt cx="915111" cy="38626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15115" cy="386269"/>
            </a:xfrm>
            <a:custGeom>
              <a:avLst/>
              <a:gdLst/>
              <a:ahLst/>
              <a:cxnLst/>
              <a:rect r="r" b="b" t="t" l="l"/>
              <a:pathLst>
                <a:path h="3862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86269"/>
                  </a:lnTo>
                  <a:lnTo>
                    <a:pt x="0" y="3862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8" r="0" b="1119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915111" cy="405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40"/>
                </a:lnSpc>
              </a:pPr>
              <a:r>
                <a:rPr lang="en-US" sz="14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3574408" y="-1199738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266681"/>
            <a:chOff x="0" y="0"/>
            <a:chExt cx="9883242" cy="3555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355573"/>
            </a:xfrm>
            <a:custGeom>
              <a:avLst/>
              <a:gdLst/>
              <a:ahLst/>
              <a:cxnLst/>
              <a:rect r="r" b="b" t="t" l="l"/>
              <a:pathLst>
                <a:path h="355573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355573"/>
                  </a:lnTo>
                  <a:lnTo>
                    <a:pt x="0" y="3555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397" r="0" b="-5007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83242" cy="374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Required </a:t>
              </a: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Questions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12903117" cy="842776"/>
            <a:chOff x="0" y="0"/>
            <a:chExt cx="17204157" cy="11237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04161" cy="1123700"/>
            </a:xfrm>
            <a:custGeom>
              <a:avLst/>
              <a:gdLst/>
              <a:ahLst/>
              <a:cxnLst/>
              <a:rect r="r" b="b" t="t" l="l"/>
              <a:pathLst>
                <a:path h="1123700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123700"/>
                  </a:lnTo>
                  <a:lnTo>
                    <a:pt x="0" y="112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530" r="0" b="-24311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7204157" cy="1142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SQL Queries &amp; Required Questions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51059" y="2223726"/>
            <a:ext cx="14413059" cy="452502"/>
            <a:chOff x="0" y="0"/>
            <a:chExt cx="19217411" cy="6033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217413" cy="603329"/>
            </a:xfrm>
            <a:custGeom>
              <a:avLst/>
              <a:gdLst/>
              <a:ahLst/>
              <a:cxnLst/>
              <a:rect r="r" b="b" t="t" l="l"/>
              <a:pathLst>
                <a:path h="603329" w="19217413">
                  <a:moveTo>
                    <a:pt x="0" y="0"/>
                  </a:moveTo>
                  <a:lnTo>
                    <a:pt x="19217413" y="0"/>
                  </a:lnTo>
                  <a:lnTo>
                    <a:pt x="19217413" y="603329"/>
                  </a:lnTo>
                  <a:lnTo>
                    <a:pt x="0" y="6033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172" r="0" b="-56311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9217411" cy="622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system supports medical, administrative, and financial retrieval through SQL queries and views.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1880" y="2874988"/>
            <a:ext cx="5300043" cy="2760593"/>
            <a:chOff x="0" y="0"/>
            <a:chExt cx="7066724" cy="36807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6662" cy="3680714"/>
            </a:xfrm>
            <a:custGeom>
              <a:avLst/>
              <a:gdLst/>
              <a:ahLst/>
              <a:cxnLst/>
              <a:rect r="r" b="b" t="t" l="l"/>
              <a:pathLst>
                <a:path h="3680714" w="7066662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919468" y="0"/>
                  </a:lnTo>
                  <a:cubicBezTo>
                    <a:pt x="7000749" y="0"/>
                    <a:pt x="7066662" y="65913"/>
                    <a:pt x="7066662" y="147193"/>
                  </a:cubicBezTo>
                  <a:lnTo>
                    <a:pt x="7066662" y="3533521"/>
                  </a:lnTo>
                  <a:cubicBezTo>
                    <a:pt x="7066662" y="3614801"/>
                    <a:pt x="7000749" y="3680714"/>
                    <a:pt x="6919468" y="3680714"/>
                  </a:cubicBezTo>
                  <a:lnTo>
                    <a:pt x="147193" y="3680714"/>
                  </a:lnTo>
                  <a:cubicBezTo>
                    <a:pt x="65913" y="3680841"/>
                    <a:pt x="0" y="3614928"/>
                    <a:pt x="0" y="353352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67054" y="3120161"/>
            <a:ext cx="595589" cy="595589"/>
            <a:chOff x="0" y="0"/>
            <a:chExt cx="794118" cy="7941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17765" y="3266961"/>
            <a:ext cx="494167" cy="328022"/>
            <a:chOff x="0" y="0"/>
            <a:chExt cx="658889" cy="4373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90373" y="3115970"/>
            <a:ext cx="3045819" cy="795402"/>
            <a:chOff x="0" y="0"/>
            <a:chExt cx="4061092" cy="10605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61096" cy="1060540"/>
            </a:xfrm>
            <a:custGeom>
              <a:avLst/>
              <a:gdLst/>
              <a:ahLst/>
              <a:cxnLst/>
              <a:rect r="r" b="b" t="t" l="l"/>
              <a:pathLst>
                <a:path h="1060540" w="4061096">
                  <a:moveTo>
                    <a:pt x="0" y="0"/>
                  </a:moveTo>
                  <a:lnTo>
                    <a:pt x="4061096" y="0"/>
                  </a:lnTo>
                  <a:lnTo>
                    <a:pt x="4061096" y="1060540"/>
                  </a:lnTo>
                  <a:lnTo>
                    <a:pt x="0" y="1060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35" r="-33850" b="-223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061092" cy="1079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 Prevent overlapping appointments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531696" y="4074176"/>
            <a:ext cx="479037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a BEFORE INSERT trigger on Appointment. It checks the same doctor, same date, and time interval. If a conflict exists, the database rejects the insert.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512566" y="2874988"/>
            <a:ext cx="5300043" cy="2760593"/>
            <a:chOff x="0" y="0"/>
            <a:chExt cx="7066724" cy="36807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66662" cy="3680714"/>
            </a:xfrm>
            <a:custGeom>
              <a:avLst/>
              <a:gdLst/>
              <a:ahLst/>
              <a:cxnLst/>
              <a:rect r="r" b="b" t="t" l="l"/>
              <a:pathLst>
                <a:path h="3680714" w="7066662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919468" y="0"/>
                  </a:lnTo>
                  <a:cubicBezTo>
                    <a:pt x="7000749" y="0"/>
                    <a:pt x="7066662" y="65913"/>
                    <a:pt x="7066662" y="147193"/>
                  </a:cubicBezTo>
                  <a:lnTo>
                    <a:pt x="7066662" y="3533521"/>
                  </a:lnTo>
                  <a:cubicBezTo>
                    <a:pt x="7066662" y="3614801"/>
                    <a:pt x="7000749" y="3680714"/>
                    <a:pt x="6919468" y="3680714"/>
                  </a:cubicBezTo>
                  <a:lnTo>
                    <a:pt x="147193" y="3680714"/>
                  </a:lnTo>
                  <a:cubicBezTo>
                    <a:pt x="65913" y="3680841"/>
                    <a:pt x="0" y="3614928"/>
                    <a:pt x="0" y="353352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757740" y="3120161"/>
            <a:ext cx="595589" cy="595589"/>
            <a:chOff x="0" y="0"/>
            <a:chExt cx="794118" cy="7941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08451" y="3266961"/>
            <a:ext cx="494167" cy="328022"/>
            <a:chOff x="0" y="0"/>
            <a:chExt cx="658889" cy="4373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81068" y="3115970"/>
            <a:ext cx="4076833" cy="795402"/>
            <a:chOff x="0" y="0"/>
            <a:chExt cx="5435778" cy="10605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35783" cy="1060540"/>
            </a:xfrm>
            <a:custGeom>
              <a:avLst/>
              <a:gdLst/>
              <a:ahLst/>
              <a:cxnLst/>
              <a:rect r="r" b="b" t="t" l="l"/>
              <a:pathLst>
                <a:path h="1060540" w="5435783">
                  <a:moveTo>
                    <a:pt x="0" y="0"/>
                  </a:moveTo>
                  <a:lnTo>
                    <a:pt x="5435783" y="0"/>
                  </a:lnTo>
                  <a:lnTo>
                    <a:pt x="5435783" y="1060540"/>
                  </a:lnTo>
                  <a:lnTo>
                    <a:pt x="0" y="1060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35" r="0" b="-2230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5435778" cy="1079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 Patient summary + appointment history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808451" y="4074176"/>
            <a:ext cx="479037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Start from Patient, then LEFT JOIN Appointment, Doctor, and Department to show patient details, visits, status, cost, and diagnosis.</a:t>
            </a:r>
          </a:p>
          <a:p>
            <a:pPr algn="l">
              <a:lnSpc>
                <a:spcPts val="2197"/>
              </a:lnSpc>
            </a:pPr>
          </a:p>
          <a:p>
            <a:pPr algn="l">
              <a:lnSpc>
                <a:spcPts val="2197"/>
              </a:lnSpc>
            </a:pPr>
          </a:p>
        </p:txBody>
      </p:sp>
      <p:grpSp>
        <p:nvGrpSpPr>
          <p:cNvPr name="Group 44" id="44"/>
          <p:cNvGrpSpPr/>
          <p:nvPr/>
        </p:nvGrpSpPr>
        <p:grpSpPr>
          <a:xfrm rot="0">
            <a:off x="12003262" y="2874988"/>
            <a:ext cx="5300043" cy="2760593"/>
            <a:chOff x="0" y="0"/>
            <a:chExt cx="7066724" cy="36807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66662" cy="3680714"/>
            </a:xfrm>
            <a:custGeom>
              <a:avLst/>
              <a:gdLst/>
              <a:ahLst/>
              <a:cxnLst/>
              <a:rect r="r" b="b" t="t" l="l"/>
              <a:pathLst>
                <a:path h="3680714" w="7066662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919468" y="0"/>
                  </a:lnTo>
                  <a:cubicBezTo>
                    <a:pt x="7000749" y="0"/>
                    <a:pt x="7066662" y="65913"/>
                    <a:pt x="7066662" y="147193"/>
                  </a:cubicBezTo>
                  <a:lnTo>
                    <a:pt x="7066662" y="3533521"/>
                  </a:lnTo>
                  <a:cubicBezTo>
                    <a:pt x="7066662" y="3614801"/>
                    <a:pt x="7000749" y="3680714"/>
                    <a:pt x="6919468" y="3680714"/>
                  </a:cubicBezTo>
                  <a:lnTo>
                    <a:pt x="147193" y="3680714"/>
                  </a:lnTo>
                  <a:cubicBezTo>
                    <a:pt x="65913" y="3680841"/>
                    <a:pt x="0" y="3614928"/>
                    <a:pt x="0" y="353352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248436" y="3120161"/>
            <a:ext cx="595589" cy="595589"/>
            <a:chOff x="0" y="0"/>
            <a:chExt cx="794118" cy="79411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2299147" y="3266961"/>
            <a:ext cx="494167" cy="328022"/>
            <a:chOff x="0" y="0"/>
            <a:chExt cx="658889" cy="4373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883" cy="437350"/>
            </a:xfrm>
            <a:custGeom>
              <a:avLst/>
              <a:gdLst/>
              <a:ahLst/>
              <a:cxnLst/>
              <a:rect r="r" b="b" t="t" l="l"/>
              <a:pathLst>
                <a:path h="43735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" r="0" b="4553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58889" cy="456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971755" y="3115970"/>
            <a:ext cx="4076833" cy="795402"/>
            <a:chOff x="0" y="0"/>
            <a:chExt cx="5435778" cy="10605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35783" cy="1060540"/>
            </a:xfrm>
            <a:custGeom>
              <a:avLst/>
              <a:gdLst/>
              <a:ahLst/>
              <a:cxnLst/>
              <a:rect r="r" b="b" t="t" l="l"/>
              <a:pathLst>
                <a:path h="1060540" w="5435783">
                  <a:moveTo>
                    <a:pt x="0" y="0"/>
                  </a:moveTo>
                  <a:lnTo>
                    <a:pt x="5435783" y="0"/>
                  </a:lnTo>
                  <a:lnTo>
                    <a:pt x="5435783" y="1060540"/>
                  </a:lnTo>
                  <a:lnTo>
                    <a:pt x="0" y="1060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35" r="0" b="-2230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435778" cy="1079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 Upcoming appointments next month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299147" y="4118967"/>
            <a:ext cx="479037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Join Doctor, Department, and Appointment; filter next month; count appointments per doctor.</a:t>
            </a:r>
          </a:p>
          <a:p>
            <a:pPr algn="l">
              <a:lnSpc>
                <a:spcPts val="2197"/>
              </a:lnSpc>
            </a:pPr>
            <a:r>
              <a:rPr lang="en-US" sz="18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 BY d.doctor_id, d.doctor_name, dep.dept_name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739716" y="6730956"/>
            <a:ext cx="16487318" cy="2352975"/>
            <a:chOff x="0" y="0"/>
            <a:chExt cx="21983090" cy="313730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982937" cy="3137252"/>
            </a:xfrm>
            <a:custGeom>
              <a:avLst/>
              <a:gdLst/>
              <a:ahLst/>
              <a:cxnLst/>
              <a:rect r="r" b="b" t="t" l="l"/>
              <a:pathLst>
                <a:path h="3137252" w="21982937">
                  <a:moveTo>
                    <a:pt x="0" y="185852"/>
                  </a:moveTo>
                  <a:cubicBezTo>
                    <a:pt x="0" y="83170"/>
                    <a:pt x="66040" y="0"/>
                    <a:pt x="147574" y="0"/>
                  </a:cubicBezTo>
                  <a:lnTo>
                    <a:pt x="21835363" y="0"/>
                  </a:lnTo>
                  <a:cubicBezTo>
                    <a:pt x="21916898" y="0"/>
                    <a:pt x="21982937" y="83170"/>
                    <a:pt x="21982937" y="185852"/>
                  </a:cubicBezTo>
                  <a:lnTo>
                    <a:pt x="21982937" y="2951400"/>
                  </a:lnTo>
                  <a:cubicBezTo>
                    <a:pt x="21982937" y="3054083"/>
                    <a:pt x="21916898" y="3137252"/>
                    <a:pt x="21835363" y="3137252"/>
                  </a:cubicBezTo>
                  <a:lnTo>
                    <a:pt x="147574" y="3137252"/>
                  </a:lnTo>
                  <a:cubicBezTo>
                    <a:pt x="66040" y="3137252"/>
                    <a:pt x="0" y="3054083"/>
                    <a:pt x="0" y="2951400"/>
                  </a:cubicBezTo>
                  <a:close/>
                </a:path>
              </a:pathLst>
            </a:custGeom>
            <a:solidFill>
              <a:srgbClr val="EAF4FF"/>
            </a:solidFill>
            <a:ln w="15252" cap="sq">
              <a:solidFill>
                <a:srgbClr val="EAF4F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851059" y="6902406"/>
            <a:ext cx="6898448" cy="452502"/>
            <a:chOff x="0" y="0"/>
            <a:chExt cx="9197931" cy="603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97935" cy="603332"/>
            </a:xfrm>
            <a:custGeom>
              <a:avLst/>
              <a:gdLst/>
              <a:ahLst/>
              <a:cxnLst/>
              <a:rect r="r" b="b" t="t" l="l"/>
              <a:pathLst>
                <a:path h="603332" w="9197935">
                  <a:moveTo>
                    <a:pt x="0" y="0"/>
                  </a:moveTo>
                  <a:lnTo>
                    <a:pt x="9197935" y="0"/>
                  </a:lnTo>
                  <a:lnTo>
                    <a:pt x="9197935" y="603332"/>
                  </a:lnTo>
                  <a:lnTo>
                    <a:pt x="0" y="6033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421" r="28366" b="-14615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9197931" cy="622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Example query categories implemented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49606" y="7943867"/>
            <a:ext cx="135741" cy="135741"/>
            <a:chOff x="0" y="0"/>
            <a:chExt cx="180988" cy="1809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1102" cy="181102"/>
            </a:xfrm>
            <a:custGeom>
              <a:avLst/>
              <a:gdLst/>
              <a:ahLst/>
              <a:cxnLst/>
              <a:rect r="r" b="b" t="t" l="l"/>
              <a:pathLst>
                <a:path h="181102" w="181102">
                  <a:moveTo>
                    <a:pt x="0" y="90551"/>
                  </a:moveTo>
                  <a:cubicBezTo>
                    <a:pt x="0" y="40513"/>
                    <a:pt x="40513" y="0"/>
                    <a:pt x="90551" y="0"/>
                  </a:cubicBezTo>
                  <a:cubicBezTo>
                    <a:pt x="140589" y="0"/>
                    <a:pt x="181102" y="40513"/>
                    <a:pt x="181102" y="90551"/>
                  </a:cubicBezTo>
                  <a:cubicBezTo>
                    <a:pt x="181102" y="140589"/>
                    <a:pt x="140589" y="181102"/>
                    <a:pt x="90551" y="181102"/>
                  </a:cubicBezTo>
                  <a:cubicBezTo>
                    <a:pt x="40513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355508" y="7819563"/>
            <a:ext cx="7000627" cy="404891"/>
            <a:chOff x="0" y="0"/>
            <a:chExt cx="9334170" cy="53985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34172" cy="539848"/>
            </a:xfrm>
            <a:custGeom>
              <a:avLst/>
              <a:gdLst/>
              <a:ahLst/>
              <a:cxnLst/>
              <a:rect r="r" b="b" t="t" l="l"/>
              <a:pathLst>
                <a:path h="539848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39848"/>
                  </a:lnTo>
                  <a:lnTo>
                    <a:pt x="0" y="5398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439" r="0" b="-28436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9334170" cy="549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7"/>
                </a:lnSpc>
              </a:pPr>
              <a:r>
                <a:rPr lang="en-US" sz="2056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Disease tracking: fatty liver patients in the last year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684252" y="7912984"/>
            <a:ext cx="135741" cy="135741"/>
            <a:chOff x="0" y="0"/>
            <a:chExt cx="180988" cy="1809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1102" cy="181102"/>
            </a:xfrm>
            <a:custGeom>
              <a:avLst/>
              <a:gdLst/>
              <a:ahLst/>
              <a:cxnLst/>
              <a:rect r="r" b="b" t="t" l="l"/>
              <a:pathLst>
                <a:path h="181102" w="181102">
                  <a:moveTo>
                    <a:pt x="0" y="90551"/>
                  </a:moveTo>
                  <a:cubicBezTo>
                    <a:pt x="0" y="40513"/>
                    <a:pt x="40513" y="0"/>
                    <a:pt x="90551" y="0"/>
                  </a:cubicBezTo>
                  <a:cubicBezTo>
                    <a:pt x="140589" y="0"/>
                    <a:pt x="181102" y="40513"/>
                    <a:pt x="181102" y="90551"/>
                  </a:cubicBezTo>
                  <a:cubicBezTo>
                    <a:pt x="181102" y="140589"/>
                    <a:pt x="140589" y="181102"/>
                    <a:pt x="90551" y="181102"/>
                  </a:cubicBezTo>
                  <a:cubicBezTo>
                    <a:pt x="40513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8913414" y="7819563"/>
            <a:ext cx="7000627" cy="404891"/>
            <a:chOff x="0" y="0"/>
            <a:chExt cx="9334170" cy="53985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334172" cy="539848"/>
            </a:xfrm>
            <a:custGeom>
              <a:avLst/>
              <a:gdLst/>
              <a:ahLst/>
              <a:cxnLst/>
              <a:rect r="r" b="b" t="t" l="l"/>
              <a:pathLst>
                <a:path h="539848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39848"/>
                  </a:lnTo>
                  <a:lnTo>
                    <a:pt x="0" y="5398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439" r="0" b="-28436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9334170" cy="549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7"/>
                </a:lnSpc>
              </a:pPr>
              <a:r>
                <a:rPr lang="en-US" sz="2056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Clinic lookup: cardiology clinic addresses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47777" y="8517758"/>
            <a:ext cx="135741" cy="135741"/>
            <a:chOff x="0" y="0"/>
            <a:chExt cx="180988" cy="18098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81102" cy="181102"/>
            </a:xfrm>
            <a:custGeom>
              <a:avLst/>
              <a:gdLst/>
              <a:ahLst/>
              <a:cxnLst/>
              <a:rect r="r" b="b" t="t" l="l"/>
              <a:pathLst>
                <a:path h="181102" w="181102">
                  <a:moveTo>
                    <a:pt x="0" y="90551"/>
                  </a:moveTo>
                  <a:cubicBezTo>
                    <a:pt x="0" y="40513"/>
                    <a:pt x="40513" y="0"/>
                    <a:pt x="90551" y="0"/>
                  </a:cubicBezTo>
                  <a:cubicBezTo>
                    <a:pt x="140589" y="0"/>
                    <a:pt x="181102" y="40513"/>
                    <a:pt x="181102" y="90551"/>
                  </a:cubicBezTo>
                  <a:cubicBezTo>
                    <a:pt x="181102" y="140589"/>
                    <a:pt x="140589" y="181102"/>
                    <a:pt x="90551" y="181102"/>
                  </a:cubicBezTo>
                  <a:cubicBezTo>
                    <a:pt x="40513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378768" y="8354139"/>
            <a:ext cx="7000627" cy="404891"/>
            <a:chOff x="0" y="0"/>
            <a:chExt cx="9334170" cy="53985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334172" cy="539848"/>
            </a:xfrm>
            <a:custGeom>
              <a:avLst/>
              <a:gdLst/>
              <a:ahLst/>
              <a:cxnLst/>
              <a:rect r="r" b="b" t="t" l="l"/>
              <a:pathLst>
                <a:path h="539848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39848"/>
                  </a:lnTo>
                  <a:lnTo>
                    <a:pt x="0" y="5398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439" r="0" b="-28436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9334170" cy="549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7"/>
                </a:lnSpc>
              </a:pPr>
              <a:r>
                <a:rPr lang="en-US" sz="2056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Financial reporting: patient payments over three years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752122" y="8517758"/>
            <a:ext cx="135741" cy="135741"/>
            <a:chOff x="0" y="0"/>
            <a:chExt cx="180988" cy="1809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81102" cy="181102"/>
            </a:xfrm>
            <a:custGeom>
              <a:avLst/>
              <a:gdLst/>
              <a:ahLst/>
              <a:cxnLst/>
              <a:rect r="r" b="b" t="t" l="l"/>
              <a:pathLst>
                <a:path h="181102" w="181102">
                  <a:moveTo>
                    <a:pt x="0" y="90551"/>
                  </a:moveTo>
                  <a:cubicBezTo>
                    <a:pt x="0" y="40513"/>
                    <a:pt x="40513" y="0"/>
                    <a:pt x="90551" y="0"/>
                  </a:cubicBezTo>
                  <a:cubicBezTo>
                    <a:pt x="140589" y="0"/>
                    <a:pt x="181102" y="40513"/>
                    <a:pt x="181102" y="90551"/>
                  </a:cubicBezTo>
                  <a:cubicBezTo>
                    <a:pt x="181102" y="140589"/>
                    <a:pt x="140589" y="181102"/>
                    <a:pt x="90551" y="181102"/>
                  </a:cubicBezTo>
                  <a:cubicBezTo>
                    <a:pt x="40513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981284" y="8391127"/>
            <a:ext cx="7000627" cy="404891"/>
            <a:chOff x="0" y="0"/>
            <a:chExt cx="9334170" cy="5398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334172" cy="539848"/>
            </a:xfrm>
            <a:custGeom>
              <a:avLst/>
              <a:gdLst/>
              <a:ahLst/>
              <a:cxnLst/>
              <a:rect r="r" b="b" t="t" l="l"/>
              <a:pathLst>
                <a:path h="539848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39848"/>
                  </a:lnTo>
                  <a:lnTo>
                    <a:pt x="0" y="5398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439" r="0" b="-28436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9334170" cy="549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7"/>
                </a:lnSpc>
              </a:pPr>
              <a:r>
                <a:rPr lang="en-US" sz="2056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Workload/revenue analysis by doctor and department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6952500" y="9581255"/>
            <a:ext cx="686333" cy="265782"/>
            <a:chOff x="0" y="0"/>
            <a:chExt cx="915111" cy="3543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5115" cy="354379"/>
            </a:xfrm>
            <a:custGeom>
              <a:avLst/>
              <a:gdLst/>
              <a:ahLst/>
              <a:cxnLst/>
              <a:rect r="r" b="b" t="t" l="l"/>
              <a:pathLst>
                <a:path h="35437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54379"/>
                  </a:lnTo>
                  <a:lnTo>
                    <a:pt x="0" y="3543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5" r="0" b="320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915111" cy="373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09" y="-27108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4805793" y="-1734903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315715"/>
            <a:chOff x="0" y="0"/>
            <a:chExt cx="9883242" cy="4209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420952"/>
            </a:xfrm>
            <a:custGeom>
              <a:avLst/>
              <a:gdLst/>
              <a:ahLst/>
              <a:cxnLst/>
              <a:rect r="r" b="b" t="t" l="l"/>
              <a:pathLst>
                <a:path h="420952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420952"/>
                  </a:lnTo>
                  <a:lnTo>
                    <a:pt x="0" y="42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475" r="0" b="-4074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83242" cy="4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Database-Level Logic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12903117" cy="780547"/>
            <a:chOff x="0" y="0"/>
            <a:chExt cx="17204157" cy="1040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04161" cy="1040729"/>
            </a:xfrm>
            <a:custGeom>
              <a:avLst/>
              <a:gdLst/>
              <a:ahLst/>
              <a:cxnLst/>
              <a:rect r="r" b="b" t="t" l="l"/>
              <a:pathLst>
                <a:path h="1040729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040729"/>
                  </a:lnTo>
                  <a:lnTo>
                    <a:pt x="0" y="1040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43" r="0" b="-2704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7204157" cy="106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Triggers &amp; Business Rules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21880" y="2298468"/>
            <a:ext cx="6878612" cy="2280161"/>
            <a:chOff x="0" y="0"/>
            <a:chExt cx="9171483" cy="30402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71559" cy="3040253"/>
            </a:xfrm>
            <a:custGeom>
              <a:avLst/>
              <a:gdLst/>
              <a:ahLst/>
              <a:cxnLst/>
              <a:rect r="r" b="b" t="t" l="l"/>
              <a:pathLst>
                <a:path h="3040253" w="9171559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9024112" y="0"/>
                  </a:lnTo>
                  <a:cubicBezTo>
                    <a:pt x="9105519" y="0"/>
                    <a:pt x="9171559" y="66040"/>
                    <a:pt x="9171559" y="147447"/>
                  </a:cubicBezTo>
                  <a:lnTo>
                    <a:pt x="9171559" y="2892806"/>
                  </a:lnTo>
                  <a:cubicBezTo>
                    <a:pt x="9171559" y="2974213"/>
                    <a:pt x="9105519" y="3040253"/>
                    <a:pt x="9024112" y="3040253"/>
                  </a:cubicBezTo>
                  <a:lnTo>
                    <a:pt x="147447" y="3040253"/>
                  </a:lnTo>
                  <a:cubicBezTo>
                    <a:pt x="66040" y="3040253"/>
                    <a:pt x="0" y="2974213"/>
                    <a:pt x="0" y="289280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39314" y="2415902"/>
            <a:ext cx="6643735" cy="2045284"/>
            <a:chOff x="0" y="0"/>
            <a:chExt cx="8858314" cy="2727046"/>
          </a:xfrm>
        </p:grpSpPr>
        <p:sp>
          <p:nvSpPr>
            <p:cNvPr name="Freeform 22" id="22" descr="/mnt/data/report2_media_trim/imagec.png"/>
            <p:cNvSpPr/>
            <p:nvPr/>
          </p:nvSpPr>
          <p:spPr>
            <a:xfrm flipH="false" flipV="false" rot="0">
              <a:off x="0" y="0"/>
              <a:ext cx="8858250" cy="2727071"/>
            </a:xfrm>
            <a:custGeom>
              <a:avLst/>
              <a:gdLst/>
              <a:ahLst/>
              <a:cxnLst/>
              <a:rect r="r" b="b" t="t" l="l"/>
              <a:pathLst>
                <a:path h="2727071" w="8858250">
                  <a:moveTo>
                    <a:pt x="0" y="0"/>
                  </a:moveTo>
                  <a:lnTo>
                    <a:pt x="8858250" y="0"/>
                  </a:lnTo>
                  <a:lnTo>
                    <a:pt x="8858250" y="2727071"/>
                  </a:lnTo>
                  <a:lnTo>
                    <a:pt x="0" y="2727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898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29500" y="4639637"/>
            <a:ext cx="6863363" cy="302878"/>
            <a:chOff x="0" y="0"/>
            <a:chExt cx="9151150" cy="403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51149" cy="403841"/>
            </a:xfrm>
            <a:custGeom>
              <a:avLst/>
              <a:gdLst/>
              <a:ahLst/>
              <a:cxnLst/>
              <a:rect r="r" b="b" t="t" l="l"/>
              <a:pathLst>
                <a:path h="403841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403841"/>
                  </a:lnTo>
                  <a:lnTo>
                    <a:pt x="0" y="403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748" r="0" b="-38232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151150" cy="422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31"/>
                </a:lnSpc>
              </a:pPr>
              <a:r>
                <a:rPr lang="en-US" b="true" sz="1525" i="true">
                  <a:solidFill>
                    <a:srgbClr val="5B6B73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Triggers created in MySQL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97047" y="2298468"/>
            <a:ext cx="8731720" cy="2280161"/>
            <a:chOff x="0" y="0"/>
            <a:chExt cx="11642293" cy="30402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642344" cy="3040253"/>
            </a:xfrm>
            <a:custGeom>
              <a:avLst/>
              <a:gdLst/>
              <a:ahLst/>
              <a:cxnLst/>
              <a:rect r="r" b="b" t="t" l="l"/>
              <a:pathLst>
                <a:path h="3040253" w="11642344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1494897" y="0"/>
                  </a:lnTo>
                  <a:cubicBezTo>
                    <a:pt x="11576303" y="0"/>
                    <a:pt x="11642344" y="66040"/>
                    <a:pt x="11642344" y="147447"/>
                  </a:cubicBezTo>
                  <a:lnTo>
                    <a:pt x="11642344" y="2892806"/>
                  </a:lnTo>
                  <a:cubicBezTo>
                    <a:pt x="11642344" y="2974213"/>
                    <a:pt x="11576303" y="3040253"/>
                    <a:pt x="11494897" y="3040253"/>
                  </a:cubicBezTo>
                  <a:lnTo>
                    <a:pt x="147447" y="3040253"/>
                  </a:lnTo>
                  <a:cubicBezTo>
                    <a:pt x="66040" y="3040253"/>
                    <a:pt x="0" y="2974213"/>
                    <a:pt x="0" y="2892806"/>
                  </a:cubicBezTo>
                  <a:close/>
                </a:path>
              </a:pathLst>
            </a:custGeom>
            <a:solidFill>
              <a:srgbClr val="E8F7F7"/>
            </a:solidFill>
            <a:ln w="15252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716470" y="2717892"/>
            <a:ext cx="4118019" cy="591375"/>
            <a:chOff x="0" y="0"/>
            <a:chExt cx="5490693" cy="788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90690" cy="788504"/>
            </a:xfrm>
            <a:custGeom>
              <a:avLst/>
              <a:gdLst/>
              <a:ahLst/>
              <a:cxnLst/>
              <a:rect r="r" b="b" t="t" l="l"/>
              <a:pathLst>
                <a:path h="788504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788504"/>
                  </a:lnTo>
                  <a:lnTo>
                    <a:pt x="0" y="788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508" r="0" b="-658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490693" cy="80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42"/>
                </a:lnSpc>
              </a:pPr>
              <a:r>
                <a:rPr lang="en-US" sz="29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triggers matter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16470" y="3335598"/>
            <a:ext cx="7343794" cy="1014255"/>
            <a:chOff x="0" y="0"/>
            <a:chExt cx="9791725" cy="1352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91729" cy="1352345"/>
            </a:xfrm>
            <a:custGeom>
              <a:avLst/>
              <a:gdLst/>
              <a:ahLst/>
              <a:cxnLst/>
              <a:rect r="r" b="b" t="t" l="l"/>
              <a:pathLst>
                <a:path h="1352345" w="9791729">
                  <a:moveTo>
                    <a:pt x="0" y="0"/>
                  </a:moveTo>
                  <a:lnTo>
                    <a:pt x="9791729" y="0"/>
                  </a:lnTo>
                  <a:lnTo>
                    <a:pt x="9791729" y="1352345"/>
                  </a:lnTo>
                  <a:lnTo>
                    <a:pt x="0" y="13523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98" r="0" b="-6476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791725" cy="1361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1"/>
                </a:lnSpc>
              </a:pPr>
              <a:r>
                <a:rPr lang="en-US" sz="20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Important rules are enforced inside MySQL, so the database stays protected even if data is inserted manually or the application layer fails.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14251" y="5372401"/>
            <a:ext cx="7702220" cy="1347719"/>
            <a:chOff x="0" y="0"/>
            <a:chExt cx="10269626" cy="17969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69601" cy="1797023"/>
            </a:xfrm>
            <a:custGeom>
              <a:avLst/>
              <a:gdLst/>
              <a:ahLst/>
              <a:cxnLst/>
              <a:rect r="r" b="b" t="t" l="l"/>
              <a:pathLst>
                <a:path h="1797023" w="10269601">
                  <a:moveTo>
                    <a:pt x="0" y="156281"/>
                  </a:moveTo>
                  <a:cubicBezTo>
                    <a:pt x="0" y="69904"/>
                    <a:pt x="66294" y="0"/>
                    <a:pt x="148209" y="0"/>
                  </a:cubicBezTo>
                  <a:lnTo>
                    <a:pt x="10121392" y="0"/>
                  </a:lnTo>
                  <a:cubicBezTo>
                    <a:pt x="10203180" y="0"/>
                    <a:pt x="10269601" y="69904"/>
                    <a:pt x="10269601" y="156281"/>
                  </a:cubicBezTo>
                  <a:lnTo>
                    <a:pt x="10269601" y="1640746"/>
                  </a:lnTo>
                  <a:cubicBezTo>
                    <a:pt x="10269601" y="1726988"/>
                    <a:pt x="10203307" y="1797023"/>
                    <a:pt x="10121392" y="1797023"/>
                  </a:cubicBezTo>
                  <a:lnTo>
                    <a:pt x="148209" y="1797023"/>
                  </a:lnTo>
                  <a:cubicBezTo>
                    <a:pt x="66294" y="1796892"/>
                    <a:pt x="0" y="1726988"/>
                    <a:pt x="0" y="164074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67054" y="5522338"/>
            <a:ext cx="595589" cy="595589"/>
            <a:chOff x="0" y="0"/>
            <a:chExt cx="794118" cy="79411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17765" y="5669137"/>
            <a:ext cx="494167" cy="351940"/>
            <a:chOff x="0" y="0"/>
            <a:chExt cx="658889" cy="46925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90373" y="5518147"/>
            <a:ext cx="6479010" cy="466895"/>
            <a:chOff x="0" y="0"/>
            <a:chExt cx="8638680" cy="62252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38685" cy="622530"/>
            </a:xfrm>
            <a:custGeom>
              <a:avLst/>
              <a:gdLst/>
              <a:ahLst/>
              <a:cxnLst/>
              <a:rect r="r" b="b" t="t" l="l"/>
              <a:pathLst>
                <a:path h="622530" w="8638685">
                  <a:moveTo>
                    <a:pt x="0" y="0"/>
                  </a:moveTo>
                  <a:lnTo>
                    <a:pt x="8638685" y="0"/>
                  </a:lnTo>
                  <a:lnTo>
                    <a:pt x="8638685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168" r="0" b="-20860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8638680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trg_no_doctor_overlap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544255" y="6204890"/>
            <a:ext cx="621104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</a:t>
            </a: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ejects overlapping appointments for the same doctor.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257909" y="5277164"/>
            <a:ext cx="7702220" cy="1278112"/>
            <a:chOff x="0" y="0"/>
            <a:chExt cx="10269626" cy="17041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69601" cy="1704213"/>
            </a:xfrm>
            <a:custGeom>
              <a:avLst/>
              <a:gdLst/>
              <a:ahLst/>
              <a:cxnLst/>
              <a:rect r="r" b="b" t="t" l="l"/>
              <a:pathLst>
                <a:path h="1704213" w="10269601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10121392" y="0"/>
                  </a:lnTo>
                  <a:cubicBezTo>
                    <a:pt x="10203180" y="0"/>
                    <a:pt x="10269601" y="66294"/>
                    <a:pt x="10269601" y="148209"/>
                  </a:cubicBezTo>
                  <a:lnTo>
                    <a:pt x="10269601" y="1556004"/>
                  </a:lnTo>
                  <a:cubicBezTo>
                    <a:pt x="10269601" y="1637792"/>
                    <a:pt x="10203307" y="1704213"/>
                    <a:pt x="10121392" y="1704213"/>
                  </a:cubicBezTo>
                  <a:lnTo>
                    <a:pt x="148209" y="1704213"/>
                  </a:lnTo>
                  <a:cubicBezTo>
                    <a:pt x="66294" y="1704086"/>
                    <a:pt x="0" y="1637792"/>
                    <a:pt x="0" y="155600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503083" y="5522338"/>
            <a:ext cx="595589" cy="595589"/>
            <a:chOff x="0" y="0"/>
            <a:chExt cx="794118" cy="79411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553804" y="5669137"/>
            <a:ext cx="494167" cy="351940"/>
            <a:chOff x="0" y="0"/>
            <a:chExt cx="658889" cy="46925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226411" y="5518147"/>
            <a:ext cx="6479010" cy="466895"/>
            <a:chOff x="0" y="0"/>
            <a:chExt cx="8638680" cy="62252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638685" cy="622530"/>
            </a:xfrm>
            <a:custGeom>
              <a:avLst/>
              <a:gdLst/>
              <a:ahLst/>
              <a:cxnLst/>
              <a:rect r="r" b="b" t="t" l="l"/>
              <a:pathLst>
                <a:path h="622530" w="8638685">
                  <a:moveTo>
                    <a:pt x="0" y="0"/>
                  </a:moveTo>
                  <a:lnTo>
                    <a:pt x="8638685" y="0"/>
                  </a:lnTo>
                  <a:lnTo>
                    <a:pt x="8638685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168" r="0" b="-20860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8638680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trg_block_past_appointments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512751" y="6062015"/>
            <a:ext cx="527935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Prevents scheduling new appointments in the past.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21880" y="6993007"/>
            <a:ext cx="7702220" cy="1278112"/>
            <a:chOff x="0" y="0"/>
            <a:chExt cx="10269626" cy="17041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69601" cy="1704213"/>
            </a:xfrm>
            <a:custGeom>
              <a:avLst/>
              <a:gdLst/>
              <a:ahLst/>
              <a:cxnLst/>
              <a:rect r="r" b="b" t="t" l="l"/>
              <a:pathLst>
                <a:path h="1704213" w="10269601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10121392" y="0"/>
                  </a:lnTo>
                  <a:cubicBezTo>
                    <a:pt x="10203180" y="0"/>
                    <a:pt x="10269601" y="66294"/>
                    <a:pt x="10269601" y="148209"/>
                  </a:cubicBezTo>
                  <a:lnTo>
                    <a:pt x="10269601" y="1556004"/>
                  </a:lnTo>
                  <a:cubicBezTo>
                    <a:pt x="10269601" y="1637792"/>
                    <a:pt x="10203307" y="1704213"/>
                    <a:pt x="10121392" y="1704213"/>
                  </a:cubicBezTo>
                  <a:lnTo>
                    <a:pt x="148209" y="1704213"/>
                  </a:lnTo>
                  <a:cubicBezTo>
                    <a:pt x="66294" y="1704086"/>
                    <a:pt x="0" y="1637792"/>
                    <a:pt x="0" y="155600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67054" y="7238181"/>
            <a:ext cx="595589" cy="595589"/>
            <a:chOff x="0" y="0"/>
            <a:chExt cx="794118" cy="79411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317765" y="7384980"/>
            <a:ext cx="494167" cy="351940"/>
            <a:chOff x="0" y="0"/>
            <a:chExt cx="658889" cy="46925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990373" y="7233980"/>
            <a:ext cx="6479010" cy="466895"/>
            <a:chOff x="0" y="0"/>
            <a:chExt cx="8638680" cy="62252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638685" cy="622530"/>
            </a:xfrm>
            <a:custGeom>
              <a:avLst/>
              <a:gdLst/>
              <a:ahLst/>
              <a:cxnLst/>
              <a:rect r="r" b="b" t="t" l="l"/>
              <a:pathLst>
                <a:path h="622530" w="8638685">
                  <a:moveTo>
                    <a:pt x="0" y="0"/>
                  </a:moveTo>
                  <a:lnTo>
                    <a:pt x="8638685" y="0"/>
                  </a:lnTo>
                  <a:lnTo>
                    <a:pt x="8638685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168" r="0" b="-20860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8638680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trg_auto_complete_status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276712" y="7777858"/>
            <a:ext cx="679073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Automatically sets status to completed when diagnosis is entered.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257909" y="6993007"/>
            <a:ext cx="8208866" cy="1278112"/>
            <a:chOff x="0" y="0"/>
            <a:chExt cx="10945155" cy="170415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45127" cy="1704213"/>
            </a:xfrm>
            <a:custGeom>
              <a:avLst/>
              <a:gdLst/>
              <a:ahLst/>
              <a:cxnLst/>
              <a:rect r="r" b="b" t="t" l="l"/>
              <a:pathLst>
                <a:path h="1704213" w="10945127">
                  <a:moveTo>
                    <a:pt x="0" y="148209"/>
                  </a:moveTo>
                  <a:cubicBezTo>
                    <a:pt x="0" y="66294"/>
                    <a:pt x="70655" y="0"/>
                    <a:pt x="157958" y="0"/>
                  </a:cubicBezTo>
                  <a:lnTo>
                    <a:pt x="10787169" y="0"/>
                  </a:lnTo>
                  <a:cubicBezTo>
                    <a:pt x="10874338" y="0"/>
                    <a:pt x="10945127" y="66294"/>
                    <a:pt x="10945127" y="148209"/>
                  </a:cubicBezTo>
                  <a:lnTo>
                    <a:pt x="10945127" y="1556004"/>
                  </a:lnTo>
                  <a:cubicBezTo>
                    <a:pt x="10945127" y="1637792"/>
                    <a:pt x="10874473" y="1704213"/>
                    <a:pt x="10787169" y="1704213"/>
                  </a:cubicBezTo>
                  <a:lnTo>
                    <a:pt x="157958" y="1704213"/>
                  </a:lnTo>
                  <a:cubicBezTo>
                    <a:pt x="70655" y="1704086"/>
                    <a:pt x="0" y="1637792"/>
                    <a:pt x="0" y="1556004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503083" y="7238181"/>
            <a:ext cx="595589" cy="595589"/>
            <a:chOff x="0" y="0"/>
            <a:chExt cx="794118" cy="79411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94004" cy="794004"/>
            </a:xfrm>
            <a:custGeom>
              <a:avLst/>
              <a:gdLst/>
              <a:ahLst/>
              <a:cxnLst/>
              <a:rect r="r" b="b" t="t" l="l"/>
              <a:pathLst>
                <a:path h="794004" w="794004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699516" y="0"/>
                  </a:lnTo>
                  <a:cubicBezTo>
                    <a:pt x="751713" y="0"/>
                    <a:pt x="794004" y="42291"/>
                    <a:pt x="794004" y="94488"/>
                  </a:cubicBezTo>
                  <a:lnTo>
                    <a:pt x="794004" y="699516"/>
                  </a:lnTo>
                  <a:cubicBezTo>
                    <a:pt x="794004" y="751713"/>
                    <a:pt x="751713" y="794004"/>
                    <a:pt x="699516" y="794004"/>
                  </a:cubicBezTo>
                  <a:lnTo>
                    <a:pt x="94488" y="794004"/>
                  </a:lnTo>
                  <a:cubicBezTo>
                    <a:pt x="42291" y="794131"/>
                    <a:pt x="0" y="751840"/>
                    <a:pt x="0" y="699516"/>
                  </a:cubicBezTo>
                  <a:close/>
                </a:path>
              </a:pathLst>
            </a:custGeom>
            <a:solidFill>
              <a:srgbClr val="E8F7F7"/>
            </a:solidFill>
            <a:ln w="19065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553804" y="7384980"/>
            <a:ext cx="494167" cy="351940"/>
            <a:chOff x="0" y="0"/>
            <a:chExt cx="658889" cy="46925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883" cy="469240"/>
            </a:xfrm>
            <a:custGeom>
              <a:avLst/>
              <a:gdLst/>
              <a:ahLst/>
              <a:cxnLst/>
              <a:rect r="r" b="b" t="t" l="l"/>
              <a:pathLst>
                <a:path h="469240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469240"/>
                  </a:lnTo>
                  <a:lnTo>
                    <a:pt x="0" y="46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7" r="0" b="4923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658889" cy="497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1"/>
                </a:lnSpc>
              </a:pPr>
              <a:r>
                <a:rPr lang="en-US" sz="175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226411" y="7233980"/>
            <a:ext cx="6479010" cy="466895"/>
            <a:chOff x="0" y="0"/>
            <a:chExt cx="8638680" cy="62252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638685" cy="622530"/>
            </a:xfrm>
            <a:custGeom>
              <a:avLst/>
              <a:gdLst/>
              <a:ahLst/>
              <a:cxnLst/>
              <a:rect r="r" b="b" t="t" l="l"/>
              <a:pathLst>
                <a:path h="622530" w="8638685">
                  <a:moveTo>
                    <a:pt x="0" y="0"/>
                  </a:moveTo>
                  <a:lnTo>
                    <a:pt x="8638685" y="0"/>
                  </a:lnTo>
                  <a:lnTo>
                    <a:pt x="8638685" y="622530"/>
                  </a:lnTo>
                  <a:lnTo>
                    <a:pt x="0" y="622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168" r="0" b="-20860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8638680" cy="641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trg_log_postponed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9512751" y="7777858"/>
            <a:ext cx="728924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931" b="true">
                <a:solidFill>
                  <a:srgbClr val="5B6B7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Stores postponed status changes in Appointment_Audit for follow-up.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6952500" y="9581255"/>
            <a:ext cx="686333" cy="289700"/>
            <a:chOff x="0" y="0"/>
            <a:chExt cx="915111" cy="38626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5115" cy="386269"/>
            </a:xfrm>
            <a:custGeom>
              <a:avLst/>
              <a:gdLst/>
              <a:ahLst/>
              <a:cxnLst/>
              <a:rect r="r" b="b" t="t" l="l"/>
              <a:pathLst>
                <a:path h="386269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86269"/>
                  </a:lnTo>
                  <a:lnTo>
                    <a:pt x="0" y="3862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8" r="0" b="1119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915111" cy="405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40"/>
                </a:lnSpc>
              </a:pPr>
              <a:r>
                <a:rPr lang="en-US" sz="14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4805793" y="-1734903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521618"/>
            <a:ext cx="7412431" cy="315715"/>
            <a:chOff x="0" y="0"/>
            <a:chExt cx="9883242" cy="4209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3241" cy="420952"/>
            </a:xfrm>
            <a:custGeom>
              <a:avLst/>
              <a:gdLst/>
              <a:ahLst/>
              <a:cxnLst/>
              <a:rect r="r" b="b" t="t" l="l"/>
              <a:pathLst>
                <a:path h="420952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420952"/>
                  </a:lnTo>
                  <a:lnTo>
                    <a:pt x="0" y="42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475" r="0" b="-4074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83242" cy="44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Final System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988324"/>
            <a:ext cx="12903117" cy="780547"/>
            <a:chOff x="0" y="0"/>
            <a:chExt cx="17204157" cy="1040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04161" cy="1040729"/>
            </a:xfrm>
            <a:custGeom>
              <a:avLst/>
              <a:gdLst/>
              <a:ahLst/>
              <a:cxnLst/>
              <a:rect r="r" b="b" t="t" l="l"/>
              <a:pathLst>
                <a:path h="1040729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1040729"/>
                  </a:lnTo>
                  <a:lnTo>
                    <a:pt x="0" y="1040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43" r="0" b="-2704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7204157" cy="106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Web Application, Testing &amp; 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139" y="1801825"/>
            <a:ext cx="1626232" cy="47663"/>
            <a:chOff x="0" y="0"/>
            <a:chExt cx="2168309" cy="63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271" cy="63500"/>
            </a:xfrm>
            <a:custGeom>
              <a:avLst/>
              <a:gdLst/>
              <a:ahLst/>
              <a:cxnLst/>
              <a:rect r="r" b="b" t="t" l="l"/>
              <a:pathLst>
                <a:path h="63500" w="2168271">
                  <a:moveTo>
                    <a:pt x="0" y="0"/>
                  </a:moveTo>
                  <a:lnTo>
                    <a:pt x="2168271" y="635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15307" r="-1" b="-615387"/>
              </a:stretch>
            </a:blipFill>
            <a:ln w="47662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53243" y="2120017"/>
            <a:ext cx="8114024" cy="3378298"/>
            <a:chOff x="0" y="0"/>
            <a:chExt cx="10818698" cy="45043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18749" cy="4504436"/>
            </a:xfrm>
            <a:custGeom>
              <a:avLst/>
              <a:gdLst/>
              <a:ahLst/>
              <a:cxnLst/>
              <a:rect r="r" b="b" t="t" l="l"/>
              <a:pathLst>
                <a:path h="4504436" w="10818749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671683" y="0"/>
                  </a:lnTo>
                  <a:cubicBezTo>
                    <a:pt x="10752963" y="0"/>
                    <a:pt x="10818749" y="65786"/>
                    <a:pt x="10818749" y="147066"/>
                  </a:cubicBezTo>
                  <a:lnTo>
                    <a:pt x="10818749" y="4357370"/>
                  </a:lnTo>
                  <a:cubicBezTo>
                    <a:pt x="10818749" y="4438650"/>
                    <a:pt x="10752963" y="4504436"/>
                    <a:pt x="10671683" y="4504436"/>
                  </a:cubicBezTo>
                  <a:lnTo>
                    <a:pt x="147066" y="4504436"/>
                  </a:lnTo>
                  <a:cubicBezTo>
                    <a:pt x="65786" y="4504436"/>
                    <a:pt x="0" y="4438523"/>
                    <a:pt x="0" y="435737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29500" y="2196274"/>
            <a:ext cx="7961500" cy="3225784"/>
            <a:chOff x="0" y="0"/>
            <a:chExt cx="10615333" cy="4301046"/>
          </a:xfrm>
        </p:grpSpPr>
        <p:sp>
          <p:nvSpPr>
            <p:cNvPr name="Freeform 22" id="22" descr="/mnt/data/report2_media_trim/image17.png"/>
            <p:cNvSpPr/>
            <p:nvPr/>
          </p:nvSpPr>
          <p:spPr>
            <a:xfrm flipH="false" flipV="false" rot="0">
              <a:off x="0" y="0"/>
              <a:ext cx="10615295" cy="4300982"/>
            </a:xfrm>
            <a:custGeom>
              <a:avLst/>
              <a:gdLst/>
              <a:ahLst/>
              <a:cxnLst/>
              <a:rect r="r" b="b" t="t" l="l"/>
              <a:pathLst>
                <a:path h="4300982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4300982"/>
                  </a:lnTo>
                  <a:lnTo>
                    <a:pt x="0" y="4300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953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0872" y="5559323"/>
            <a:ext cx="8098765" cy="326796"/>
            <a:chOff x="0" y="0"/>
            <a:chExt cx="10798353" cy="4357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98356" cy="435732"/>
            </a:xfrm>
            <a:custGeom>
              <a:avLst/>
              <a:gdLst/>
              <a:ahLst/>
              <a:cxnLst/>
              <a:rect r="r" b="b" t="t" l="l"/>
              <a:pathLst>
                <a:path h="435732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435732"/>
                  </a:lnTo>
                  <a:lnTo>
                    <a:pt x="0" y="435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77" r="0" b="-4206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798353" cy="454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b="true" sz="1625" i="true">
                  <a:solidFill>
                    <a:srgbClr val="5B6B73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Web dashboard connected to MySQL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3243" y="5785047"/>
            <a:ext cx="8114024" cy="2829230"/>
            <a:chOff x="0" y="0"/>
            <a:chExt cx="10818698" cy="37723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18750" cy="3772281"/>
            </a:xfrm>
            <a:custGeom>
              <a:avLst/>
              <a:gdLst/>
              <a:ahLst/>
              <a:cxnLst/>
              <a:rect r="r" b="b" t="t" l="l"/>
              <a:pathLst>
                <a:path h="3772281" w="1081875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71556" y="0"/>
                  </a:lnTo>
                  <a:cubicBezTo>
                    <a:pt x="10752837" y="0"/>
                    <a:pt x="10818750" y="65913"/>
                    <a:pt x="10818750" y="147193"/>
                  </a:cubicBezTo>
                  <a:lnTo>
                    <a:pt x="10818750" y="3625088"/>
                  </a:lnTo>
                  <a:cubicBezTo>
                    <a:pt x="10818750" y="3706368"/>
                    <a:pt x="10752837" y="3772281"/>
                    <a:pt x="10671556" y="3772281"/>
                  </a:cubicBezTo>
                  <a:lnTo>
                    <a:pt x="147193" y="3772281"/>
                  </a:lnTo>
                  <a:cubicBezTo>
                    <a:pt x="65913" y="3772281"/>
                    <a:pt x="0" y="3706368"/>
                    <a:pt x="0" y="36250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29500" y="5861314"/>
            <a:ext cx="7961500" cy="3146949"/>
            <a:chOff x="0" y="0"/>
            <a:chExt cx="10615333" cy="4195931"/>
          </a:xfrm>
        </p:grpSpPr>
        <p:sp>
          <p:nvSpPr>
            <p:cNvPr name="Freeform 29" id="29" descr="/mnt/data/report2_media_trim/image18.png"/>
            <p:cNvSpPr/>
            <p:nvPr/>
          </p:nvSpPr>
          <p:spPr>
            <a:xfrm flipH="false" flipV="false" rot="0">
              <a:off x="0" y="0"/>
              <a:ext cx="10615295" cy="4195931"/>
            </a:xfrm>
            <a:custGeom>
              <a:avLst/>
              <a:gdLst/>
              <a:ahLst/>
              <a:cxnLst/>
              <a:rect r="r" b="b" t="t" l="l"/>
              <a:pathLst>
                <a:path h="4195931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4195931"/>
                  </a:lnTo>
                  <a:lnTo>
                    <a:pt x="0" y="4195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46623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3243" y="9258300"/>
            <a:ext cx="8098765" cy="326796"/>
            <a:chOff x="0" y="0"/>
            <a:chExt cx="10798353" cy="4357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98356" cy="435732"/>
            </a:xfrm>
            <a:custGeom>
              <a:avLst/>
              <a:gdLst/>
              <a:ahLst/>
              <a:cxnLst/>
              <a:rect r="r" b="b" t="t" l="l"/>
              <a:pathLst>
                <a:path h="435732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435732"/>
                  </a:lnTo>
                  <a:lnTo>
                    <a:pt x="0" y="435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77" r="0" b="-42068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798353" cy="454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b="true" sz="1625" i="true">
                  <a:solidFill>
                    <a:srgbClr val="5B6B73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Patient directory displayed in browser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29493" y="1745047"/>
            <a:ext cx="7908122" cy="1662455"/>
            <a:chOff x="0" y="0"/>
            <a:chExt cx="10544162" cy="22166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44175" cy="2216658"/>
            </a:xfrm>
            <a:custGeom>
              <a:avLst/>
              <a:gdLst/>
              <a:ahLst/>
              <a:cxnLst/>
              <a:rect r="r" b="b" t="t" l="l"/>
              <a:pathLst>
                <a:path h="2216658" w="10544175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396347" y="0"/>
                  </a:lnTo>
                  <a:cubicBezTo>
                    <a:pt x="10478008" y="0"/>
                    <a:pt x="10544175" y="66167"/>
                    <a:pt x="10544175" y="147828"/>
                  </a:cubicBezTo>
                  <a:lnTo>
                    <a:pt x="10544175" y="2068830"/>
                  </a:lnTo>
                  <a:cubicBezTo>
                    <a:pt x="10544175" y="2150491"/>
                    <a:pt x="10478008" y="2216658"/>
                    <a:pt x="10396347" y="2216658"/>
                  </a:cubicBezTo>
                  <a:lnTo>
                    <a:pt x="147828" y="2216658"/>
                  </a:lnTo>
                  <a:cubicBezTo>
                    <a:pt x="66167" y="2216658"/>
                    <a:pt x="0" y="2150491"/>
                    <a:pt x="0" y="206883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8EEF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908019" y="1964857"/>
            <a:ext cx="4804353" cy="617721"/>
            <a:chOff x="0" y="0"/>
            <a:chExt cx="6405804" cy="8236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05805" cy="823629"/>
            </a:xfrm>
            <a:custGeom>
              <a:avLst/>
              <a:gdLst/>
              <a:ahLst/>
              <a:cxnLst/>
              <a:rect r="r" b="b" t="t" l="l"/>
              <a:pathLst>
                <a:path h="823629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823629"/>
                  </a:lnTo>
                  <a:lnTo>
                    <a:pt x="0" y="8236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879" r="0" b="-782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405804" cy="852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2"/>
                </a:lnSpc>
              </a:pPr>
              <a:r>
                <a:rPr lang="en-US" sz="310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Three-layer structure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17554" y="2672363"/>
            <a:ext cx="6863363" cy="709938"/>
            <a:chOff x="0" y="0"/>
            <a:chExt cx="9151150" cy="9465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51149" cy="946577"/>
            </a:xfrm>
            <a:custGeom>
              <a:avLst/>
              <a:gdLst/>
              <a:ahLst/>
              <a:cxnLst/>
              <a:rect r="r" b="b" t="t" l="l"/>
              <a:pathLst>
                <a:path h="946577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946577"/>
                  </a:lnTo>
                  <a:lnTo>
                    <a:pt x="0" y="946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05" r="0" b="-10964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151150" cy="956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3"/>
                </a:lnSpc>
              </a:pPr>
              <a:r>
                <a:rPr lang="en-US" sz="2061" b="true">
                  <a:solidFill>
                    <a:srgbClr val="5B6B7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Frontend: React/Vite  →  Backend: Node.js/Express  →  Database: MySQL clinic_db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29493" y="3809167"/>
            <a:ext cx="8277977" cy="3034267"/>
            <a:chOff x="0" y="0"/>
            <a:chExt cx="11037303" cy="40456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7316" cy="4045727"/>
            </a:xfrm>
            <a:custGeom>
              <a:avLst/>
              <a:gdLst/>
              <a:ahLst/>
              <a:cxnLst/>
              <a:rect r="r" b="b" t="t" l="l"/>
              <a:pathLst>
                <a:path h="4045727" w="11037316">
                  <a:moveTo>
                    <a:pt x="0" y="196211"/>
                  </a:moveTo>
                  <a:cubicBezTo>
                    <a:pt x="0" y="87881"/>
                    <a:pt x="69129" y="0"/>
                    <a:pt x="154343" y="0"/>
                  </a:cubicBezTo>
                  <a:lnTo>
                    <a:pt x="10882974" y="0"/>
                  </a:lnTo>
                  <a:cubicBezTo>
                    <a:pt x="10968188" y="0"/>
                    <a:pt x="11037316" y="87881"/>
                    <a:pt x="11037316" y="196211"/>
                  </a:cubicBezTo>
                  <a:lnTo>
                    <a:pt x="11037316" y="3849528"/>
                  </a:lnTo>
                  <a:cubicBezTo>
                    <a:pt x="11037316" y="3957859"/>
                    <a:pt x="10968188" y="4045727"/>
                    <a:pt x="10882974" y="4045727"/>
                  </a:cubicBezTo>
                  <a:lnTo>
                    <a:pt x="154343" y="4045727"/>
                  </a:lnTo>
                  <a:cubicBezTo>
                    <a:pt x="69129" y="4045727"/>
                    <a:pt x="0" y="3957859"/>
                    <a:pt x="0" y="3849528"/>
                  </a:cubicBezTo>
                  <a:close/>
                </a:path>
              </a:pathLst>
            </a:custGeom>
            <a:solidFill>
              <a:srgbClr val="F5F7FA"/>
            </a:solidFill>
            <a:ln w="15252" cap="sq">
              <a:solidFill>
                <a:srgbClr val="F5F7F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930400" y="3977065"/>
            <a:ext cx="3448488" cy="656020"/>
            <a:chOff x="0" y="0"/>
            <a:chExt cx="4597985" cy="87469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97987" cy="874693"/>
            </a:xfrm>
            <a:custGeom>
              <a:avLst/>
              <a:gdLst/>
              <a:ahLst/>
              <a:cxnLst/>
              <a:rect r="r" b="b" t="t" l="l"/>
              <a:pathLst>
                <a:path h="874693" w="4597987">
                  <a:moveTo>
                    <a:pt x="0" y="0"/>
                  </a:moveTo>
                  <a:lnTo>
                    <a:pt x="4597987" y="0"/>
                  </a:lnTo>
                  <a:lnTo>
                    <a:pt x="4597987" y="874693"/>
                  </a:lnTo>
                  <a:lnTo>
                    <a:pt x="0" y="8746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41" r="4468" b="-2295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597985" cy="893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1"/>
                </a:lnSpc>
              </a:pPr>
              <a:r>
                <a:rPr lang="en-US" sz="3301" b="true">
                  <a:solidFill>
                    <a:srgbClr val="0F2E3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Testing covered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10597" y="4855359"/>
            <a:ext cx="142089" cy="135741"/>
            <a:chOff x="0" y="0"/>
            <a:chExt cx="189452" cy="1809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9567" cy="181102"/>
            </a:xfrm>
            <a:custGeom>
              <a:avLst/>
              <a:gdLst/>
              <a:ahLst/>
              <a:cxnLst/>
              <a:rect r="r" b="b" t="t" l="l"/>
              <a:pathLst>
                <a:path h="181102" w="189567">
                  <a:moveTo>
                    <a:pt x="0" y="90551"/>
                  </a:moveTo>
                  <a:cubicBezTo>
                    <a:pt x="0" y="40513"/>
                    <a:pt x="42408" y="0"/>
                    <a:pt x="94786" y="0"/>
                  </a:cubicBezTo>
                  <a:cubicBezTo>
                    <a:pt x="147164" y="0"/>
                    <a:pt x="189567" y="40513"/>
                    <a:pt x="189567" y="90551"/>
                  </a:cubicBezTo>
                  <a:cubicBezTo>
                    <a:pt x="189567" y="140589"/>
                    <a:pt x="147164" y="181102"/>
                    <a:pt x="94786" y="181102"/>
                  </a:cubicBezTo>
                  <a:cubicBezTo>
                    <a:pt x="42408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170279" y="4736482"/>
            <a:ext cx="7184356" cy="377555"/>
            <a:chOff x="0" y="0"/>
            <a:chExt cx="9579141" cy="5034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79140" cy="503406"/>
            </a:xfrm>
            <a:custGeom>
              <a:avLst/>
              <a:gdLst/>
              <a:ahLst/>
              <a:cxnLst/>
              <a:rect r="r" b="b" t="t" l="l"/>
              <a:pathLst>
                <a:path h="503406" w="9579140">
                  <a:moveTo>
                    <a:pt x="0" y="0"/>
                  </a:moveTo>
                  <a:lnTo>
                    <a:pt x="9579140" y="0"/>
                  </a:lnTo>
                  <a:lnTo>
                    <a:pt x="9579140" y="503406"/>
                  </a:lnTo>
                  <a:lnTo>
                    <a:pt x="0" y="503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122" r="4467" b="-28329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9579141" cy="522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3"/>
                </a:lnSpc>
              </a:pPr>
              <a:r>
                <a:rPr lang="en-US" sz="1885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Tables created and sample data loaded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710597" y="5143500"/>
            <a:ext cx="142089" cy="135741"/>
            <a:chOff x="0" y="0"/>
            <a:chExt cx="189452" cy="1809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9567" cy="181102"/>
            </a:xfrm>
            <a:custGeom>
              <a:avLst/>
              <a:gdLst/>
              <a:ahLst/>
              <a:cxnLst/>
              <a:rect r="r" b="b" t="t" l="l"/>
              <a:pathLst>
                <a:path h="181102" w="189567">
                  <a:moveTo>
                    <a:pt x="0" y="90551"/>
                  </a:moveTo>
                  <a:cubicBezTo>
                    <a:pt x="0" y="40513"/>
                    <a:pt x="42408" y="0"/>
                    <a:pt x="94786" y="0"/>
                  </a:cubicBezTo>
                  <a:cubicBezTo>
                    <a:pt x="147164" y="0"/>
                    <a:pt x="189567" y="40513"/>
                    <a:pt x="189567" y="90551"/>
                  </a:cubicBezTo>
                  <a:cubicBezTo>
                    <a:pt x="189567" y="140589"/>
                    <a:pt x="147164" y="181102"/>
                    <a:pt x="94786" y="181102"/>
                  </a:cubicBezTo>
                  <a:cubicBezTo>
                    <a:pt x="42408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170279" y="5038473"/>
            <a:ext cx="7184356" cy="377555"/>
            <a:chOff x="0" y="0"/>
            <a:chExt cx="9579141" cy="50340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579140" cy="503406"/>
            </a:xfrm>
            <a:custGeom>
              <a:avLst/>
              <a:gdLst/>
              <a:ahLst/>
              <a:cxnLst/>
              <a:rect r="r" b="b" t="t" l="l"/>
              <a:pathLst>
                <a:path h="503406" w="9579140">
                  <a:moveTo>
                    <a:pt x="0" y="0"/>
                  </a:moveTo>
                  <a:lnTo>
                    <a:pt x="9579140" y="0"/>
                  </a:lnTo>
                  <a:lnTo>
                    <a:pt x="9579140" y="503406"/>
                  </a:lnTo>
                  <a:lnTo>
                    <a:pt x="0" y="503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122" r="4467" b="-28329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579141" cy="522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3"/>
                </a:lnSpc>
              </a:pPr>
              <a:r>
                <a:rPr lang="en-US" sz="1885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Views generated and displayed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705442" y="5430445"/>
            <a:ext cx="142089" cy="135741"/>
            <a:chOff x="0" y="0"/>
            <a:chExt cx="189452" cy="1809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9567" cy="181102"/>
            </a:xfrm>
            <a:custGeom>
              <a:avLst/>
              <a:gdLst/>
              <a:ahLst/>
              <a:cxnLst/>
              <a:rect r="r" b="b" t="t" l="l"/>
              <a:pathLst>
                <a:path h="181102" w="189567">
                  <a:moveTo>
                    <a:pt x="0" y="90551"/>
                  </a:moveTo>
                  <a:cubicBezTo>
                    <a:pt x="0" y="40513"/>
                    <a:pt x="42408" y="0"/>
                    <a:pt x="94786" y="0"/>
                  </a:cubicBezTo>
                  <a:cubicBezTo>
                    <a:pt x="147164" y="0"/>
                    <a:pt x="189567" y="40513"/>
                    <a:pt x="189567" y="90551"/>
                  </a:cubicBezTo>
                  <a:cubicBezTo>
                    <a:pt x="189567" y="140589"/>
                    <a:pt x="147164" y="181102"/>
                    <a:pt x="94786" y="181102"/>
                  </a:cubicBezTo>
                  <a:cubicBezTo>
                    <a:pt x="42408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170279" y="5370546"/>
            <a:ext cx="7184356" cy="377555"/>
            <a:chOff x="0" y="0"/>
            <a:chExt cx="9579141" cy="50340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79140" cy="503406"/>
            </a:xfrm>
            <a:custGeom>
              <a:avLst/>
              <a:gdLst/>
              <a:ahLst/>
              <a:cxnLst/>
              <a:rect r="r" b="b" t="t" l="l"/>
              <a:pathLst>
                <a:path h="503406" w="9579140">
                  <a:moveTo>
                    <a:pt x="0" y="0"/>
                  </a:moveTo>
                  <a:lnTo>
                    <a:pt x="9579140" y="0"/>
                  </a:lnTo>
                  <a:lnTo>
                    <a:pt x="9579140" y="503406"/>
                  </a:lnTo>
                  <a:lnTo>
                    <a:pt x="0" y="503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122" r="4467" b="-28329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9579141" cy="522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3"/>
                </a:lnSpc>
              </a:pPr>
              <a:r>
                <a:rPr lang="en-US" sz="1885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Revenue and reporting queries executed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05442" y="5856771"/>
            <a:ext cx="142089" cy="135741"/>
            <a:chOff x="0" y="0"/>
            <a:chExt cx="189452" cy="1809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9567" cy="181102"/>
            </a:xfrm>
            <a:custGeom>
              <a:avLst/>
              <a:gdLst/>
              <a:ahLst/>
              <a:cxnLst/>
              <a:rect r="r" b="b" t="t" l="l"/>
              <a:pathLst>
                <a:path h="181102" w="189567">
                  <a:moveTo>
                    <a:pt x="0" y="90551"/>
                  </a:moveTo>
                  <a:cubicBezTo>
                    <a:pt x="0" y="40513"/>
                    <a:pt x="42408" y="0"/>
                    <a:pt x="94786" y="0"/>
                  </a:cubicBezTo>
                  <a:cubicBezTo>
                    <a:pt x="147164" y="0"/>
                    <a:pt x="189567" y="40513"/>
                    <a:pt x="189567" y="90551"/>
                  </a:cubicBezTo>
                  <a:cubicBezTo>
                    <a:pt x="189567" y="140589"/>
                    <a:pt x="147164" y="181102"/>
                    <a:pt x="94786" y="181102"/>
                  </a:cubicBezTo>
                  <a:cubicBezTo>
                    <a:pt x="42408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0042678" y="5785047"/>
            <a:ext cx="7641560" cy="663305"/>
            <a:chOff x="0" y="0"/>
            <a:chExt cx="10188747" cy="88440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188746" cy="884406"/>
            </a:xfrm>
            <a:custGeom>
              <a:avLst/>
              <a:gdLst/>
              <a:ahLst/>
              <a:cxnLst/>
              <a:rect r="r" b="b" t="t" l="l"/>
              <a:pathLst>
                <a:path h="884406" w="10188746">
                  <a:moveTo>
                    <a:pt x="0" y="0"/>
                  </a:moveTo>
                  <a:lnTo>
                    <a:pt x="10188746" y="0"/>
                  </a:lnTo>
                  <a:lnTo>
                    <a:pt x="10188746" y="884406"/>
                  </a:lnTo>
                  <a:lnTo>
                    <a:pt x="0" y="884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060" r="10183" b="-11817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0188747" cy="903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3"/>
                </a:lnSpc>
              </a:pPr>
              <a:r>
                <a:rPr lang="en-US" sz="1885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Triggers tested for overlap, past dates, auto-completion, and audit logging</a:t>
              </a:r>
            </a:p>
            <a:p>
              <a:pPr algn="l">
                <a:lnSpc>
                  <a:spcPts val="2263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710597" y="6294502"/>
            <a:ext cx="142089" cy="135741"/>
            <a:chOff x="0" y="0"/>
            <a:chExt cx="189452" cy="1809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9567" cy="181102"/>
            </a:xfrm>
            <a:custGeom>
              <a:avLst/>
              <a:gdLst/>
              <a:ahLst/>
              <a:cxnLst/>
              <a:rect r="r" b="b" t="t" l="l"/>
              <a:pathLst>
                <a:path h="181102" w="189567">
                  <a:moveTo>
                    <a:pt x="0" y="90551"/>
                  </a:moveTo>
                  <a:cubicBezTo>
                    <a:pt x="0" y="40513"/>
                    <a:pt x="42408" y="0"/>
                    <a:pt x="94786" y="0"/>
                  </a:cubicBezTo>
                  <a:cubicBezTo>
                    <a:pt x="147164" y="0"/>
                    <a:pt x="189567" y="40513"/>
                    <a:pt x="189567" y="90551"/>
                  </a:cubicBezTo>
                  <a:cubicBezTo>
                    <a:pt x="189567" y="140589"/>
                    <a:pt x="147164" y="181102"/>
                    <a:pt x="94786" y="181102"/>
                  </a:cubicBezTo>
                  <a:cubicBezTo>
                    <a:pt x="42408" y="181102"/>
                    <a:pt x="0" y="140462"/>
                    <a:pt x="0" y="90551"/>
                  </a:cubicBez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0042678" y="6211587"/>
            <a:ext cx="7184356" cy="536596"/>
            <a:chOff x="0" y="0"/>
            <a:chExt cx="9579141" cy="71546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579140" cy="715462"/>
            </a:xfrm>
            <a:custGeom>
              <a:avLst/>
              <a:gdLst/>
              <a:ahLst/>
              <a:cxnLst/>
              <a:rect r="r" b="b" t="t" l="l"/>
              <a:pathLst>
                <a:path h="715462" w="9579140">
                  <a:moveTo>
                    <a:pt x="0" y="0"/>
                  </a:moveTo>
                  <a:lnTo>
                    <a:pt x="9579140" y="0"/>
                  </a:lnTo>
                  <a:lnTo>
                    <a:pt x="9579140" y="715462"/>
                  </a:lnTo>
                  <a:lnTo>
                    <a:pt x="0" y="7154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759" r="4467" b="-16968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9579141" cy="734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3"/>
                </a:lnSpc>
              </a:pPr>
              <a:r>
                <a:rPr lang="en-US" sz="1885" b="true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Web app connected to MySQL and displayed database results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63811" y="7072033"/>
            <a:ext cx="7908122" cy="2186267"/>
            <a:chOff x="0" y="0"/>
            <a:chExt cx="10544162" cy="291502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544175" cy="2915073"/>
            </a:xfrm>
            <a:custGeom>
              <a:avLst/>
              <a:gdLst/>
              <a:ahLst/>
              <a:cxnLst/>
              <a:rect r="r" b="b" t="t" l="l"/>
              <a:pathLst>
                <a:path h="2915073" w="10544175">
                  <a:moveTo>
                    <a:pt x="0" y="194406"/>
                  </a:moveTo>
                  <a:cubicBezTo>
                    <a:pt x="0" y="87015"/>
                    <a:pt x="66167" y="0"/>
                    <a:pt x="147828" y="0"/>
                  </a:cubicBezTo>
                  <a:lnTo>
                    <a:pt x="10396347" y="0"/>
                  </a:lnTo>
                  <a:cubicBezTo>
                    <a:pt x="10478008" y="0"/>
                    <a:pt x="10544175" y="87015"/>
                    <a:pt x="10544175" y="194406"/>
                  </a:cubicBezTo>
                  <a:lnTo>
                    <a:pt x="10544175" y="2720683"/>
                  </a:lnTo>
                  <a:cubicBezTo>
                    <a:pt x="10544175" y="2828074"/>
                    <a:pt x="10478008" y="2915073"/>
                    <a:pt x="10396347" y="2915073"/>
                  </a:cubicBezTo>
                  <a:lnTo>
                    <a:pt x="147828" y="2915073"/>
                  </a:lnTo>
                  <a:cubicBezTo>
                    <a:pt x="66167" y="2915073"/>
                    <a:pt x="0" y="2828074"/>
                    <a:pt x="0" y="2720683"/>
                  </a:cubicBezTo>
                  <a:close/>
                </a:path>
              </a:pathLst>
            </a:custGeom>
            <a:solidFill>
              <a:srgbClr val="E8F7F7"/>
            </a:solidFill>
            <a:ln w="15252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0685946" y="7605433"/>
            <a:ext cx="4813887" cy="1005472"/>
            <a:chOff x="0" y="0"/>
            <a:chExt cx="6418516" cy="134063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18519" cy="1340620"/>
            </a:xfrm>
            <a:custGeom>
              <a:avLst/>
              <a:gdLst/>
              <a:ahLst/>
              <a:cxnLst/>
              <a:rect r="r" b="b" t="t" l="l"/>
              <a:pathLst>
                <a:path h="1340620" w="6418519">
                  <a:moveTo>
                    <a:pt x="0" y="0"/>
                  </a:moveTo>
                  <a:lnTo>
                    <a:pt x="6418519" y="0"/>
                  </a:lnTo>
                  <a:lnTo>
                    <a:pt x="6418519" y="1340620"/>
                  </a:lnTo>
                  <a:lnTo>
                    <a:pt x="0" y="1340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84" r="42970" b="3178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418516" cy="1378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1"/>
                </a:lnSpc>
              </a:pPr>
              <a:r>
                <a:rPr lang="en-US" sz="5001" b="true">
                  <a:solidFill>
                    <a:srgbClr val="008C8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952500" y="9581255"/>
            <a:ext cx="686333" cy="304092"/>
            <a:chOff x="0" y="0"/>
            <a:chExt cx="915111" cy="4054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5115" cy="405460"/>
            </a:xfrm>
            <a:custGeom>
              <a:avLst/>
              <a:gdLst/>
              <a:ahLst/>
              <a:cxnLst/>
              <a:rect r="r" b="b" t="t" l="l"/>
              <a:pathLst>
                <a:path h="405460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405460"/>
                  </a:lnTo>
                  <a:lnTo>
                    <a:pt x="0" y="405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1539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915111" cy="424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60"/>
                </a:lnSpc>
              </a:pPr>
              <a:r>
                <a:rPr lang="en-US" sz="15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21050" cy="10314108"/>
            <a:chOff x="0" y="0"/>
            <a:chExt cx="42806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11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28117">
                  <a:moveTo>
                    <a:pt x="0" y="0"/>
                  </a:moveTo>
                  <a:lnTo>
                    <a:pt x="428117" y="0"/>
                  </a:lnTo>
                  <a:lnTo>
                    <a:pt x="42811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08C8C"/>
            </a:solidFill>
            <a:ln w="19065" cap="sq">
              <a:solidFill>
                <a:srgbClr val="008C8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720000">
            <a:off x="13508028" y="-1195718"/>
            <a:ext cx="5803354" cy="5803354"/>
            <a:chOff x="0" y="0"/>
            <a:chExt cx="7737805" cy="7737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6" t="0" r="-156604" b="-99998"/>
              </a:stretch>
            </a:blipFill>
            <a:ln w="38130" cap="sq">
              <a:solidFill>
                <a:srgbClr val="E8F7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07563" y="7951965"/>
            <a:ext cx="3038942" cy="3038942"/>
            <a:chOff x="0" y="0"/>
            <a:chExt cx="4051922" cy="4051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1935" cy="4051935"/>
            </a:xfrm>
            <a:custGeom>
              <a:avLst/>
              <a:gdLst/>
              <a:ahLst/>
              <a:cxnLst/>
              <a:rect r="r" b="b" t="t" l="l"/>
              <a:pathLst>
                <a:path h="4051935" w="4051935">
                  <a:moveTo>
                    <a:pt x="0" y="2025904"/>
                  </a:moveTo>
                  <a:cubicBezTo>
                    <a:pt x="0" y="907034"/>
                    <a:pt x="907034" y="0"/>
                    <a:pt x="2025904" y="0"/>
                  </a:cubicBezTo>
                  <a:cubicBezTo>
                    <a:pt x="3144774" y="0"/>
                    <a:pt x="4051935" y="907034"/>
                    <a:pt x="4051935" y="2025904"/>
                  </a:cubicBezTo>
                  <a:cubicBezTo>
                    <a:pt x="4051935" y="3144774"/>
                    <a:pt x="3144901" y="4051935"/>
                    <a:pt x="2025904" y="4051935"/>
                  </a:cubicBezTo>
                  <a:cubicBezTo>
                    <a:pt x="906907" y="4051935"/>
                    <a:pt x="0" y="3144901"/>
                    <a:pt x="0" y="2025904"/>
                  </a:cubicBezTo>
                  <a:close/>
                </a:path>
              </a:pathLst>
            </a:custGeom>
            <a:solidFill>
              <a:srgbClr val="EAF4FF">
                <a:alpha val="7215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952500" y="9471436"/>
            <a:ext cx="916119" cy="437829"/>
            <a:chOff x="0" y="0"/>
            <a:chExt cx="915111" cy="4373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5115" cy="437350"/>
            </a:xfrm>
            <a:custGeom>
              <a:avLst/>
              <a:gdLst/>
              <a:ahLst/>
              <a:cxnLst/>
              <a:rect r="r" b="b" t="t" l="l"/>
              <a:pathLst>
                <a:path h="437350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437350"/>
                  </a:lnTo>
                  <a:lnTo>
                    <a:pt x="0" y="43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7" r="0" b="2156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15111" cy="45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96A3A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738108" y="3861645"/>
            <a:ext cx="639853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7"/>
              </a:lnSpc>
              <a:spcBef>
                <a:spcPct val="0"/>
              </a:spcBef>
            </a:pPr>
            <a:r>
              <a:rPr lang="en-US" b="true" sz="8231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DAHLFiwZ5bY</dc:identifier>
  <dcterms:modified xsi:type="dcterms:W3CDTF">2011-08-01T06:04:30Z</dcterms:modified>
  <cp:revision>1</cp:revision>
  <dc:title>Clinic_Management_System_Updated_Professional.pptx</dc:title>
</cp:coreProperties>
</file>